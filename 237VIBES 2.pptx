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87" r:id="rId1"/>
  </p:sldMasterIdLst>
  <p:notesMasterIdLst>
    <p:notesMasterId r:id="rId18"/>
  </p:notesMasterIdLst>
  <p:sldIdLst>
    <p:sldId id="256" r:id="rId2"/>
    <p:sldId id="257" r:id="rId3"/>
    <p:sldId id="258" r:id="rId4"/>
    <p:sldId id="259" r:id="rId5"/>
    <p:sldId id="269" r:id="rId6"/>
    <p:sldId id="260" r:id="rId7"/>
    <p:sldId id="261" r:id="rId8"/>
    <p:sldId id="262" r:id="rId9"/>
    <p:sldId id="271" r:id="rId10"/>
    <p:sldId id="263" r:id="rId11"/>
    <p:sldId id="264" r:id="rId12"/>
    <p:sldId id="270"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580"/>
  </p:normalViewPr>
  <p:slideViewPr>
    <p:cSldViewPr snapToGrid="0">
      <p:cViewPr>
        <p:scale>
          <a:sx n="110" d="100"/>
          <a:sy n="110" d="100"/>
        </p:scale>
        <p:origin x="632"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E33C4-2BDA-5E47-BEAA-2677DDB7AF5C}" type="datetimeFigureOut">
              <a:rPr lang="fr-FR" smtClean="0"/>
              <a:t>30/04/2026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D7AD36-C63F-CB46-BB06-5B8245800234}" type="slidenum">
              <a:rPr lang="fr-FR" smtClean="0"/>
              <a:t>‹N°›</a:t>
            </a:fld>
            <a:endParaRPr lang="fr-FR" dirty="0"/>
          </a:p>
        </p:txBody>
      </p:sp>
    </p:spTree>
    <p:extLst>
      <p:ext uri="{BB962C8B-B14F-4D97-AF65-F5344CB8AC3E}">
        <p14:creationId xmlns:p14="http://schemas.microsoft.com/office/powerpoint/2010/main" val="56162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D7AD36-C63F-CB46-BB06-5B8245800234}" type="slidenum">
              <a:rPr lang="fr-FR" smtClean="0"/>
              <a:t>1</a:t>
            </a:fld>
            <a:endParaRPr lang="fr-FR" dirty="0"/>
          </a:p>
        </p:txBody>
      </p:sp>
    </p:spTree>
    <p:extLst>
      <p:ext uri="{BB962C8B-B14F-4D97-AF65-F5344CB8AC3E}">
        <p14:creationId xmlns:p14="http://schemas.microsoft.com/office/powerpoint/2010/main" val="3388169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D7AD36-C63F-CB46-BB06-5B8245800234}" type="slidenum">
              <a:rPr lang="fr-FR" smtClean="0"/>
              <a:t>8</a:t>
            </a:fld>
            <a:endParaRPr lang="fr-FR" dirty="0"/>
          </a:p>
        </p:txBody>
      </p:sp>
    </p:spTree>
    <p:extLst>
      <p:ext uri="{BB962C8B-B14F-4D97-AF65-F5344CB8AC3E}">
        <p14:creationId xmlns:p14="http://schemas.microsoft.com/office/powerpoint/2010/main" val="1641348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2001645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2698697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2475057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3995536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2031059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2113079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640358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619082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1206976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811810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8155D19-8819-9C4D-B549-51FBF35A439D}" type="slidenum">
              <a:rPr lang="fr-FR" smtClean="0"/>
              <a:t>‹N°›</a:t>
            </a:fld>
            <a:endParaRPr lang="fr-FR"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97014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3569270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155D19-8819-9C4D-B549-51FBF35A439D}" type="slidenum">
              <a:rPr lang="fr-FR" smtClean="0"/>
              <a:t>‹N°›</a:t>
            </a:fld>
            <a:endParaRPr lang="fr-FR"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51124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109052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885938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4856766-D6AA-954C-9433-1780DF766DB9}" type="datetimeFigureOut">
              <a:rPr lang="fr-FR" smtClean="0"/>
              <a:t>29/04/2026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155D19-8819-9C4D-B549-51FBF35A439D}" type="slidenum">
              <a:rPr lang="fr-FR" smtClean="0"/>
              <a:t>‹N°›</a:t>
            </a:fld>
            <a:endParaRPr lang="fr-FR" dirty="0"/>
          </a:p>
        </p:txBody>
      </p:sp>
    </p:spTree>
    <p:extLst>
      <p:ext uri="{BB962C8B-B14F-4D97-AF65-F5344CB8AC3E}">
        <p14:creationId xmlns:p14="http://schemas.microsoft.com/office/powerpoint/2010/main" val="2696728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4856766-D6AA-954C-9433-1780DF766DB9}" type="datetimeFigureOut">
              <a:rPr lang="fr-FR" smtClean="0"/>
              <a:t>29/04/2026</a:t>
            </a:fld>
            <a:endParaRPr lang="fr-FR"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8155D19-8819-9C4D-B549-51FBF35A439D}" type="slidenum">
              <a:rPr lang="fr-FR" smtClean="0"/>
              <a:t>‹N°›</a:t>
            </a:fld>
            <a:endParaRPr lang="fr-FR" dirty="0"/>
          </a:p>
        </p:txBody>
      </p:sp>
    </p:spTree>
    <p:extLst>
      <p:ext uri="{BB962C8B-B14F-4D97-AF65-F5344CB8AC3E}">
        <p14:creationId xmlns:p14="http://schemas.microsoft.com/office/powerpoint/2010/main" val="4112808767"/>
      </p:ext>
    </p:extLst>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 id="2147484199" r:id="rId12"/>
    <p:sldLayoutId id="2147484200" r:id="rId13"/>
    <p:sldLayoutId id="2147484201" r:id="rId14"/>
    <p:sldLayoutId id="2147484202" r:id="rId15"/>
    <p:sldLayoutId id="214748420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A22237-0403-D460-19ED-EEAEB98491EB}"/>
              </a:ext>
            </a:extLst>
          </p:cNvPr>
          <p:cNvSpPr>
            <a:spLocks noGrp="1"/>
          </p:cNvSpPr>
          <p:nvPr>
            <p:ph type="ctrTitle"/>
          </p:nvPr>
        </p:nvSpPr>
        <p:spPr>
          <a:xfrm>
            <a:off x="2707363" y="1500369"/>
            <a:ext cx="8679915" cy="1456953"/>
          </a:xfrm>
        </p:spPr>
        <p:txBody>
          <a:bodyPr>
            <a:normAutofit/>
          </a:bodyPr>
          <a:lstStyle/>
          <a:p>
            <a:pPr algn="ctr"/>
            <a:r>
              <a:rPr lang="fr-FR" sz="3200" b="1" dirty="0">
                <a:latin typeface="Times New Roman" panose="02020603050405020304" pitchFamily="18" charset="0"/>
                <a:cs typeface="Times New Roman" panose="02020603050405020304" pitchFamily="18" charset="0"/>
              </a:rPr>
              <a:t>CAMPAGNE DE COMMUNICATION </a:t>
            </a:r>
            <a:br>
              <a:rPr lang="fr-FR" sz="3200" b="1" dirty="0">
                <a:latin typeface="Times New Roman" panose="02020603050405020304" pitchFamily="18" charset="0"/>
                <a:cs typeface="Times New Roman" panose="02020603050405020304" pitchFamily="18" charset="0"/>
              </a:rPr>
            </a:br>
            <a:r>
              <a:rPr lang="fr-FR" sz="3200" b="1" dirty="0">
                <a:latin typeface="Times New Roman" panose="02020603050405020304" pitchFamily="18" charset="0"/>
                <a:cs typeface="Times New Roman" panose="02020603050405020304" pitchFamily="18" charset="0"/>
              </a:rPr>
              <a:t>237 VIBES</a:t>
            </a:r>
          </a:p>
        </p:txBody>
      </p:sp>
      <p:sp>
        <p:nvSpPr>
          <p:cNvPr id="3" name="Sous-titre 2">
            <a:extLst>
              <a:ext uri="{FF2B5EF4-FFF2-40B4-BE49-F238E27FC236}">
                <a16:creationId xmlns:a16="http://schemas.microsoft.com/office/drawing/2014/main" id="{964EBE19-2FC2-49CF-C1B1-5D3B6C45F1F9}"/>
              </a:ext>
            </a:extLst>
          </p:cNvPr>
          <p:cNvSpPr>
            <a:spLocks noGrp="1"/>
          </p:cNvSpPr>
          <p:nvPr>
            <p:ph type="subTitle" idx="1"/>
          </p:nvPr>
        </p:nvSpPr>
        <p:spPr>
          <a:xfrm>
            <a:off x="2439550" y="3429000"/>
            <a:ext cx="8673427" cy="2171700"/>
          </a:xfrm>
        </p:spPr>
        <p:txBody>
          <a:bodyPr>
            <a:noAutofit/>
          </a:bodyPr>
          <a:lstStyle/>
          <a:p>
            <a:pPr algn="ctr"/>
            <a:r>
              <a:rPr lang="fr-FR" dirty="0">
                <a:latin typeface="Times New Roman" panose="02020603050405020304" pitchFamily="18" charset="0"/>
                <a:cs typeface="Times New Roman" panose="02020603050405020304" pitchFamily="18" charset="0"/>
              </a:rPr>
              <a:t>Promoteur: SAÏD LATHIFA &amp; AMINATOU ABDOULAYE</a:t>
            </a:r>
          </a:p>
          <a:p>
            <a:pPr algn="ctr"/>
            <a:r>
              <a:rPr lang="fr-FR" dirty="0">
                <a:latin typeface="Times New Roman" panose="02020603050405020304" pitchFamily="18" charset="0"/>
                <a:cs typeface="Times New Roman" panose="02020603050405020304" pitchFamily="18" charset="0"/>
              </a:rPr>
              <a:t>Forme juridique : SARL/SAS</a:t>
            </a:r>
          </a:p>
          <a:p>
            <a:pPr algn="ctr"/>
            <a:r>
              <a:rPr lang="fr-FR" dirty="0">
                <a:latin typeface="Times New Roman" panose="02020603050405020304" pitchFamily="18" charset="0"/>
                <a:cs typeface="Times New Roman" panose="02020603050405020304" pitchFamily="18" charset="0"/>
              </a:rPr>
              <a:t>Secteur : Technologies Mobiles ; Tourismes &amp; Loisirs</a:t>
            </a:r>
          </a:p>
          <a:p>
            <a:pPr algn="ctr"/>
            <a:r>
              <a:rPr lang="fr-FR" dirty="0">
                <a:latin typeface="Times New Roman" panose="02020603050405020304" pitchFamily="18" charset="0"/>
                <a:cs typeface="Times New Roman" panose="02020603050405020304" pitchFamily="18" charset="0"/>
              </a:rPr>
              <a:t>Date de rédaction : Avril 2026</a:t>
            </a:r>
          </a:p>
          <a:p>
            <a:pPr algn="ctr"/>
            <a:r>
              <a:rPr lang="fr-FR" dirty="0">
                <a:latin typeface="Times New Roman" panose="02020603050405020304" pitchFamily="18" charset="0"/>
                <a:cs typeface="Times New Roman" panose="02020603050405020304" pitchFamily="18" charset="0"/>
              </a:rPr>
              <a:t>Stade du projet : Création / Pré-lancement</a:t>
            </a:r>
          </a:p>
        </p:txBody>
      </p:sp>
    </p:spTree>
    <p:extLst>
      <p:ext uri="{BB962C8B-B14F-4D97-AF65-F5344CB8AC3E}">
        <p14:creationId xmlns:p14="http://schemas.microsoft.com/office/powerpoint/2010/main" val="817092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B12D35-91BC-D1AF-AC66-C0F7ECF48AFB}"/>
              </a:ext>
            </a:extLst>
          </p:cNvPr>
          <p:cNvSpPr>
            <a:spLocks noGrp="1"/>
          </p:cNvSpPr>
          <p:nvPr>
            <p:ph type="title"/>
          </p:nvPr>
        </p:nvSpPr>
        <p:spPr>
          <a:xfrm>
            <a:off x="2592925" y="1055033"/>
            <a:ext cx="8911687" cy="794787"/>
          </a:xfrm>
        </p:spPr>
        <p:txBody>
          <a:bodyPr>
            <a:normAutofit/>
          </a:bodyPr>
          <a:lstStyle/>
          <a:p>
            <a:pPr algn="ctr"/>
            <a:r>
              <a:rPr lang="fr-FR" sz="2800" dirty="0">
                <a:latin typeface="Times New Roman" panose="02020603050405020304" pitchFamily="18" charset="0"/>
                <a:cs typeface="Times New Roman" panose="02020603050405020304" pitchFamily="18" charset="0"/>
              </a:rPr>
              <a:t>INTRODUCTION</a:t>
            </a:r>
          </a:p>
        </p:txBody>
      </p:sp>
      <p:sp>
        <p:nvSpPr>
          <p:cNvPr id="3" name="Espace réservé du contenu 2">
            <a:extLst>
              <a:ext uri="{FF2B5EF4-FFF2-40B4-BE49-F238E27FC236}">
                <a16:creationId xmlns:a16="http://schemas.microsoft.com/office/drawing/2014/main" id="{72863032-AF6A-66F0-254E-58735F023871}"/>
              </a:ext>
            </a:extLst>
          </p:cNvPr>
          <p:cNvSpPr>
            <a:spLocks noGrp="1"/>
          </p:cNvSpPr>
          <p:nvPr>
            <p:ph idx="1"/>
          </p:nvPr>
        </p:nvSpPr>
        <p:spPr>
          <a:xfrm>
            <a:off x="2592925" y="1849820"/>
            <a:ext cx="8915400" cy="3777622"/>
          </a:xfrm>
        </p:spPr>
        <p:txBody>
          <a:bodyPr>
            <a:normAutofit/>
          </a:bodyPr>
          <a:lstStyle/>
          <a:p>
            <a:pPr marL="0" indent="0" algn="just">
              <a:buNone/>
            </a:pPr>
            <a:r>
              <a:rPr lang="fr-CM" dirty="0">
                <a:latin typeface="Times New Roman" panose="02020603050405020304" pitchFamily="18" charset="0"/>
                <a:cs typeface="Times New Roman" panose="02020603050405020304" pitchFamily="18" charset="0"/>
              </a:rPr>
              <a:t>Dans un environnement où les jeunes sont de plus en plus connectés mais paradoxalement insuffisamment informés sur les activités disponibles autour d’eux, la digitalisation des services de loisirs apparaît comme une solution incontournable. Au Cameroun, malgré une offre croissante d’événements culturels, sociaux et récréatifs, l’information reste dispersée sur plusieurs canaux peu structurés, ce qui limite l’accès rapide et efficace à ces opportunités.</a:t>
            </a:r>
          </a:p>
          <a:p>
            <a:pPr marL="0" indent="0" algn="just">
              <a:buNone/>
            </a:pPr>
            <a:r>
              <a:rPr lang="fr-CM" dirty="0">
                <a:latin typeface="Times New Roman" panose="02020603050405020304" pitchFamily="18" charset="0"/>
                <a:cs typeface="Times New Roman" panose="02020603050405020304" pitchFamily="18" charset="0"/>
              </a:rPr>
              <a:t>C’est dans cette dynamique que s’inscrit 237Vibes, une application mobile innovante conçue pour permettre aux utilisateurs de découvrir, réserver et payer des activités locales en toute simplicité.</a:t>
            </a:r>
          </a:p>
          <a:p>
            <a:pPr marL="0" indent="0" algn="just">
              <a:buNone/>
            </a:pPr>
            <a:r>
              <a:rPr lang="fr-CM" dirty="0">
                <a:latin typeface="Times New Roman" panose="02020603050405020304" pitchFamily="18" charset="0"/>
                <a:cs typeface="Times New Roman" panose="02020603050405020304" pitchFamily="18" charset="0"/>
              </a:rPr>
              <a:t>Cependant, la réussite d’une telle innovation repose sur une stratégie de communication efficace capable d’assurer sa visibilité, de susciter l’intérêt du public cible et de favoriser son adoption durable.</a:t>
            </a:r>
          </a:p>
          <a:p>
            <a:pPr marL="0" indent="0">
              <a:buNone/>
            </a:pPr>
            <a:endParaRPr lang="fr-FR" dirty="0"/>
          </a:p>
        </p:txBody>
      </p:sp>
    </p:spTree>
    <p:extLst>
      <p:ext uri="{BB962C8B-B14F-4D97-AF65-F5344CB8AC3E}">
        <p14:creationId xmlns:p14="http://schemas.microsoft.com/office/powerpoint/2010/main" val="3071408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70FD4-5040-4847-A984-97A62D071E60}"/>
              </a:ext>
            </a:extLst>
          </p:cNvPr>
          <p:cNvSpPr>
            <a:spLocks noGrp="1"/>
          </p:cNvSpPr>
          <p:nvPr>
            <p:ph type="title"/>
          </p:nvPr>
        </p:nvSpPr>
        <p:spPr>
          <a:xfrm>
            <a:off x="2478853" y="523935"/>
            <a:ext cx="8911687" cy="516590"/>
          </a:xfrm>
        </p:spPr>
        <p:txBody>
          <a:bodyPr>
            <a:normAutofit fontScale="90000"/>
          </a:bodyPr>
          <a:lstStyle/>
          <a:p>
            <a:pPr algn="ctr"/>
            <a:r>
              <a:rPr lang="fr-FR" sz="2800" dirty="0">
                <a:latin typeface="Times New Roman" panose="02020603050405020304" pitchFamily="18" charset="0"/>
                <a:cs typeface="Times New Roman" panose="02020603050405020304" pitchFamily="18" charset="0"/>
              </a:rPr>
              <a:t>CONTEXTE ET JUSTIFICATION</a:t>
            </a:r>
          </a:p>
        </p:txBody>
      </p:sp>
      <p:sp>
        <p:nvSpPr>
          <p:cNvPr id="3" name="Espace réservé du contenu 2">
            <a:extLst>
              <a:ext uri="{FF2B5EF4-FFF2-40B4-BE49-F238E27FC236}">
                <a16:creationId xmlns:a16="http://schemas.microsoft.com/office/drawing/2014/main" id="{4F1EA7F1-B95B-06AB-F21C-B0F18CF10AB1}"/>
              </a:ext>
            </a:extLst>
          </p:cNvPr>
          <p:cNvSpPr>
            <a:spLocks noGrp="1"/>
          </p:cNvSpPr>
          <p:nvPr>
            <p:ph idx="1"/>
          </p:nvPr>
        </p:nvSpPr>
        <p:spPr>
          <a:xfrm>
            <a:off x="1916482" y="1164921"/>
            <a:ext cx="10045874" cy="5436295"/>
          </a:xfrm>
        </p:spPr>
        <p:txBody>
          <a:bodyPr>
            <a:normAutofit/>
          </a:bodyPr>
          <a:lstStyle/>
          <a:p>
            <a:pPr marL="0" indent="0" algn="just">
              <a:buNone/>
            </a:pPr>
            <a:r>
              <a:rPr lang="fr-CM" dirty="0">
                <a:latin typeface="Times New Roman" panose="02020603050405020304" pitchFamily="18" charset="0"/>
                <a:cs typeface="Times New Roman" panose="02020603050405020304" pitchFamily="18" charset="0"/>
              </a:rPr>
              <a:t>Le marché camerounais présente un paradoxe notable : d’un côté, une population jeune fortement connectée et consommatrice de contenus digitaux ; de l’autre, de nombreux prestataires d’activités (restaurants, organisateurs d’événements, espaces de loisirs, structures culturelles) qui peinent à atteindre efficacement leur clientèle.</a:t>
            </a:r>
          </a:p>
          <a:p>
            <a:pPr marL="0" indent="0" algn="just">
              <a:buNone/>
            </a:pPr>
            <a:r>
              <a:rPr lang="fr-CM" dirty="0">
                <a:latin typeface="Times New Roman" panose="02020603050405020304" pitchFamily="18" charset="0"/>
                <a:cs typeface="Times New Roman" panose="02020603050405020304" pitchFamily="18" charset="0"/>
              </a:rPr>
              <a:t>Actuellement, les informations relatives aux activités locales sont principalement relayées via les réseaux sociaux, le bouche-à-oreille ou des publications dispersées, rendant leur accessibilité limitée et peu pratique.</a:t>
            </a:r>
          </a:p>
          <a:p>
            <a:pPr marL="0" indent="0" algn="just">
              <a:buNone/>
            </a:pPr>
            <a:r>
              <a:rPr lang="fr-CM" dirty="0">
                <a:latin typeface="Times New Roman" panose="02020603050405020304" pitchFamily="18" charset="0"/>
                <a:cs typeface="Times New Roman" panose="02020603050405020304" pitchFamily="18" charset="0"/>
              </a:rPr>
              <a:t>Dans ce contexte, 237Vibes se positionne comme une solution digitale centralisée facilitant la mise en relation entre l’offre et la demande grâce à :</a:t>
            </a:r>
          </a:p>
          <a:p>
            <a:pPr algn="just">
              <a:buFont typeface="Wingdings" pitchFamily="2" charset="2"/>
              <a:buChar char="v"/>
            </a:pPr>
            <a:r>
              <a:rPr lang="fr-CM" dirty="0">
                <a:latin typeface="Times New Roman" panose="02020603050405020304" pitchFamily="18" charset="0"/>
                <a:cs typeface="Times New Roman" panose="02020603050405020304" pitchFamily="18" charset="0"/>
              </a:rPr>
              <a:t>la géolocalisation en temps réel ;</a:t>
            </a:r>
          </a:p>
          <a:p>
            <a:pPr algn="just">
              <a:buFont typeface="Wingdings" pitchFamily="2" charset="2"/>
              <a:buChar char="v"/>
            </a:pPr>
            <a:r>
              <a:rPr lang="fr-CM" dirty="0">
                <a:latin typeface="Times New Roman" panose="02020603050405020304" pitchFamily="18" charset="0"/>
                <a:cs typeface="Times New Roman" panose="02020603050405020304" pitchFamily="18" charset="0"/>
              </a:rPr>
              <a:t>la réservation instantanée ;</a:t>
            </a:r>
          </a:p>
          <a:p>
            <a:pPr algn="just">
              <a:buFont typeface="Wingdings" pitchFamily="2" charset="2"/>
              <a:buChar char="v"/>
            </a:pPr>
            <a:r>
              <a:rPr lang="fr-CM" dirty="0">
                <a:latin typeface="Times New Roman" panose="02020603050405020304" pitchFamily="18" charset="0"/>
                <a:cs typeface="Times New Roman" panose="02020603050405020304" pitchFamily="18" charset="0"/>
              </a:rPr>
              <a:t>le paiement intégré ;</a:t>
            </a:r>
          </a:p>
          <a:p>
            <a:pPr algn="just">
              <a:buFont typeface="Wingdings" pitchFamily="2" charset="2"/>
              <a:buChar char="v"/>
            </a:pPr>
            <a:r>
              <a:rPr lang="fr-CM" dirty="0">
                <a:latin typeface="Times New Roman" panose="02020603050405020304" pitchFamily="18" charset="0"/>
                <a:cs typeface="Times New Roman" panose="02020603050405020304" pitchFamily="18" charset="0"/>
              </a:rPr>
              <a:t>la personnalisation de l’expérience utilisateur;</a:t>
            </a:r>
          </a:p>
          <a:p>
            <a:pPr marL="0" indent="0" algn="just">
              <a:buNone/>
            </a:pPr>
            <a:r>
              <a:rPr lang="fr-CM" dirty="0">
                <a:latin typeface="Times New Roman" panose="02020603050405020304" pitchFamily="18" charset="0"/>
                <a:cs typeface="Times New Roman" panose="02020603050405020304" pitchFamily="18" charset="0"/>
              </a:rPr>
              <a:t>Une campagne de communication structurée s’avère indispensable pour accompagner son lancement et accélérer son adoption.</a:t>
            </a:r>
          </a:p>
          <a:p>
            <a:pPr marL="0" indent="0" algn="just">
              <a:buNone/>
            </a:pPr>
            <a:endParaRPr lang="fr-C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7492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0A7760-5E8C-0C57-E9C0-1CB8FDEA7265}"/>
              </a:ext>
            </a:extLst>
          </p:cNvPr>
          <p:cNvSpPr>
            <a:spLocks noGrp="1"/>
          </p:cNvSpPr>
          <p:nvPr>
            <p:ph type="title"/>
          </p:nvPr>
        </p:nvSpPr>
        <p:spPr>
          <a:xfrm>
            <a:off x="2592925" y="275574"/>
            <a:ext cx="8911687" cy="575766"/>
          </a:xfrm>
        </p:spPr>
        <p:txBody>
          <a:bodyPr>
            <a:normAutofit fontScale="90000"/>
          </a:bodyPr>
          <a:lstStyle/>
          <a:p>
            <a:pPr algn="ctr"/>
            <a:r>
              <a:rPr lang="fr-FR" sz="3100" dirty="0">
                <a:latin typeface="Times New Roman" panose="02020603050405020304" pitchFamily="18" charset="0"/>
                <a:cs typeface="Times New Roman" panose="02020603050405020304" pitchFamily="18" charset="0"/>
              </a:rPr>
              <a:t>ANALYSE DE SITUATION(DIAGNOSTIC)</a:t>
            </a:r>
            <a:br>
              <a:rPr lang="fr-FR" dirty="0">
                <a:latin typeface="Times New Roman" panose="02020603050405020304" pitchFamily="18" charset="0"/>
                <a:cs typeface="Times New Roman" panose="02020603050405020304" pitchFamily="18" charset="0"/>
              </a:rPr>
            </a:br>
            <a:endParaRPr lang="fr-FR"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21B5000F-285C-A406-3A6D-B5376F23ED3D}"/>
              </a:ext>
            </a:extLst>
          </p:cNvPr>
          <p:cNvSpPr>
            <a:spLocks noGrp="1"/>
          </p:cNvSpPr>
          <p:nvPr>
            <p:ph idx="1"/>
          </p:nvPr>
        </p:nvSpPr>
        <p:spPr>
          <a:xfrm>
            <a:off x="1521696" y="851339"/>
            <a:ext cx="10246292" cy="6006661"/>
          </a:xfrm>
        </p:spPr>
        <p:txBody>
          <a:bodyPr>
            <a:noAutofit/>
          </a:bodyPr>
          <a:lstStyle/>
          <a:p>
            <a:pPr marL="0" indent="0" algn="just">
              <a:lnSpc>
                <a:spcPct val="120000"/>
              </a:lnSpc>
              <a:buNone/>
            </a:pPr>
            <a:r>
              <a:rPr lang="fr-FR" sz="1600" b="1" dirty="0">
                <a:latin typeface="Times New Roman" panose="02020603050405020304" pitchFamily="18" charset="0"/>
                <a:cs typeface="Times New Roman" panose="02020603050405020304" pitchFamily="18" charset="0"/>
              </a:rPr>
              <a:t>ANALYSE INTERNE</a:t>
            </a:r>
          </a:p>
          <a:p>
            <a:pPr marL="0" indent="0" algn="just">
              <a:lnSpc>
                <a:spcPct val="120000"/>
              </a:lnSpc>
              <a:buNone/>
            </a:pPr>
            <a:r>
              <a:rPr lang="fr-FR" sz="1600" dirty="0">
                <a:latin typeface="Times New Roman" panose="02020603050405020304" pitchFamily="18" charset="0"/>
                <a:cs typeface="Times New Roman" panose="02020603050405020304" pitchFamily="18" charset="0"/>
              </a:rPr>
              <a:t>237VIBES est une application innovante qui propose plusieurs fonctionnalités </a:t>
            </a:r>
            <a:r>
              <a:rPr lang="fr-CM" sz="1600" dirty="0">
                <a:latin typeface="Times New Roman" panose="02020603050405020304" pitchFamily="18" charset="0"/>
                <a:cs typeface="Times New Roman" panose="02020603050405020304" pitchFamily="18" charset="0"/>
              </a:rPr>
              <a:t>stratégiques </a:t>
            </a:r>
            <a:r>
              <a:rPr lang="fr-FR" sz="1600" dirty="0">
                <a:latin typeface="Times New Roman" panose="02020603050405020304" pitchFamily="18" charset="0"/>
                <a:cs typeface="Times New Roman" panose="02020603050405020304" pitchFamily="18" charset="0"/>
              </a:rPr>
              <a:t>: découverte d’activités locales, géolocalisation en temps réel , réservation en ligne, paiement intégré et personnalisation de l’expérience utilisateur. Elle offre également une visibilité accrue aux prestaires locaux.</a:t>
            </a:r>
            <a:r>
              <a:rPr lang="fr-CM" sz="1600" dirty="0">
                <a:latin typeface="Times New Roman" panose="02020603050405020304" pitchFamily="18" charset="0"/>
                <a:cs typeface="Times New Roman" panose="02020603050405020304" pitchFamily="18" charset="0"/>
              </a:rPr>
              <a:t> L’application constitue une réelle valeur ajoutée aussi bien pour les utilisateurs que pour les prestataires locaux qui bénéficient d’une meilleure visibilité. </a:t>
            </a:r>
            <a:r>
              <a:rPr lang="fr-FR" sz="1600" dirty="0">
                <a:latin typeface="Times New Roman" panose="02020603050405020304" pitchFamily="18" charset="0"/>
                <a:cs typeface="Times New Roman" panose="02020603050405020304" pitchFamily="18" charset="0"/>
              </a:rPr>
              <a:t>Toutefois, en phase de lancement, l’application souffre d’un manque de notoriété et dispose de ressources financières limitées, ce qui nécessite une stratégie de communication ciblée et optimisée.</a:t>
            </a:r>
          </a:p>
          <a:p>
            <a:pPr marL="0" indent="0" algn="just">
              <a:lnSpc>
                <a:spcPct val="120000"/>
              </a:lnSpc>
              <a:buNone/>
            </a:pPr>
            <a:r>
              <a:rPr lang="fr-FR" sz="1600" b="1" dirty="0">
                <a:latin typeface="Times New Roman" panose="02020603050405020304" pitchFamily="18" charset="0"/>
                <a:cs typeface="Times New Roman" panose="02020603050405020304" pitchFamily="18" charset="0"/>
              </a:rPr>
              <a:t>ANALYSE EXTERNE</a:t>
            </a:r>
          </a:p>
          <a:p>
            <a:pPr marL="0" indent="0" algn="just">
              <a:lnSpc>
                <a:spcPct val="120000"/>
              </a:lnSpc>
              <a:buNone/>
            </a:pPr>
            <a:r>
              <a:rPr lang="fr-CM" sz="1600" dirty="0">
                <a:latin typeface="Times New Roman" panose="02020603050405020304" pitchFamily="18" charset="0"/>
                <a:cs typeface="Times New Roman" panose="02020603050405020304" pitchFamily="18" charset="0"/>
              </a:rPr>
              <a:t>L’environnement externe est particulièrement favorable au développement de l’application. Le Cameroun connaît une progression constante de l’utilisation des smartphones et une forte présence des jeunes sur les plateformes digitales telles que WhatsApp, Instagram, TikTok et Facebook.</a:t>
            </a:r>
          </a:p>
          <a:p>
            <a:pPr marL="0" indent="0" algn="just">
              <a:lnSpc>
                <a:spcPct val="120000"/>
              </a:lnSpc>
              <a:buNone/>
            </a:pPr>
            <a:r>
              <a:rPr lang="fr-CM" sz="1600" dirty="0">
                <a:latin typeface="Times New Roman" panose="02020603050405020304" pitchFamily="18" charset="0"/>
                <a:cs typeface="Times New Roman" panose="02020603050405020304" pitchFamily="18" charset="0"/>
              </a:rPr>
              <a:t>Par ailleurs, l’intérêt croissant pour les expériences sociales et culturelles crée un marché porteur. </a:t>
            </a:r>
          </a:p>
          <a:p>
            <a:pPr marL="0" indent="0" algn="just">
              <a:lnSpc>
                <a:spcPct val="120000"/>
              </a:lnSpc>
              <a:buNone/>
            </a:pPr>
            <a:r>
              <a:rPr lang="fr-CM" sz="1600" dirty="0">
                <a:latin typeface="Times New Roman" panose="02020603050405020304" pitchFamily="18" charset="0"/>
                <a:cs typeface="Times New Roman" panose="02020603050405020304" pitchFamily="18" charset="0"/>
              </a:rPr>
              <a:t>Néanmoins, plusieurs défis existent :</a:t>
            </a:r>
          </a:p>
          <a:p>
            <a:pPr algn="just">
              <a:lnSpc>
                <a:spcPct val="120000"/>
              </a:lnSpc>
              <a:buFont typeface="Wingdings" pitchFamily="2" charset="2"/>
              <a:buChar char="v"/>
            </a:pPr>
            <a:r>
              <a:rPr lang="fr-CM" sz="1600" dirty="0">
                <a:latin typeface="Times New Roman" panose="02020603050405020304" pitchFamily="18" charset="0"/>
                <a:cs typeface="Times New Roman" panose="02020603050405020304" pitchFamily="18" charset="0"/>
              </a:rPr>
              <a:t>Concurrence indirecte des réseaux sociaux ;</a:t>
            </a:r>
          </a:p>
          <a:p>
            <a:pPr algn="just">
              <a:lnSpc>
                <a:spcPct val="120000"/>
              </a:lnSpc>
              <a:buFont typeface="Wingdings" pitchFamily="2" charset="2"/>
              <a:buChar char="v"/>
            </a:pPr>
            <a:r>
              <a:rPr lang="fr-CM" sz="1600" dirty="0">
                <a:latin typeface="Times New Roman" panose="02020603050405020304" pitchFamily="18" charset="0"/>
                <a:cs typeface="Times New Roman" panose="02020603050405020304" pitchFamily="18" charset="0"/>
              </a:rPr>
              <a:t>Habitudes de consommation traditionnelles ;</a:t>
            </a:r>
          </a:p>
          <a:p>
            <a:pPr algn="just">
              <a:lnSpc>
                <a:spcPct val="120000"/>
              </a:lnSpc>
              <a:buFont typeface="Wingdings" pitchFamily="2" charset="2"/>
              <a:buChar char="v"/>
            </a:pPr>
            <a:r>
              <a:rPr lang="fr-CM" sz="1600" dirty="0">
                <a:latin typeface="Times New Roman" panose="02020603050405020304" pitchFamily="18" charset="0"/>
                <a:cs typeface="Times New Roman" panose="02020603050405020304" pitchFamily="18" charset="0"/>
              </a:rPr>
              <a:t>Réticence initiale à adopter de nouvelles applications;</a:t>
            </a:r>
          </a:p>
        </p:txBody>
      </p:sp>
    </p:spTree>
    <p:extLst>
      <p:ext uri="{BB962C8B-B14F-4D97-AF65-F5344CB8AC3E}">
        <p14:creationId xmlns:p14="http://schemas.microsoft.com/office/powerpoint/2010/main" val="4251298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9884E2B-6816-DFB6-8DFD-0BE0DF7D3D38}"/>
              </a:ext>
            </a:extLst>
          </p:cNvPr>
          <p:cNvSpPr>
            <a:spLocks noGrp="1"/>
          </p:cNvSpPr>
          <p:nvPr>
            <p:ph idx="1"/>
          </p:nvPr>
        </p:nvSpPr>
        <p:spPr>
          <a:xfrm>
            <a:off x="1592317" y="189186"/>
            <a:ext cx="10373711" cy="6542690"/>
          </a:xfrm>
        </p:spPr>
        <p:txBody>
          <a:bodyPr>
            <a:normAutofit lnSpcReduction="10000"/>
          </a:bodyPr>
          <a:lstStyle/>
          <a:p>
            <a:pPr marL="0" indent="0">
              <a:buNone/>
            </a:pPr>
            <a:r>
              <a:rPr lang="fr-CM" sz="1600" b="1" dirty="0">
                <a:latin typeface="Times New Roman" panose="02020603050405020304" pitchFamily="18" charset="0"/>
                <a:cs typeface="Times New Roman" panose="02020603050405020304" pitchFamily="18" charset="0"/>
              </a:rPr>
              <a:t>ANALYSE SWOT</a:t>
            </a:r>
            <a:endParaRPr lang="fr-CM" sz="1600" dirty="0">
              <a:latin typeface="Times New Roman" panose="02020603050405020304" pitchFamily="18" charset="0"/>
              <a:cs typeface="Times New Roman" panose="02020603050405020304" pitchFamily="18" charset="0"/>
            </a:endParaRPr>
          </a:p>
          <a:p>
            <a:pPr>
              <a:buFont typeface="Wingdings" pitchFamily="2" charset="2"/>
              <a:buChar char="Ø"/>
            </a:pPr>
            <a:r>
              <a:rPr lang="fr-CM" sz="1600" dirty="0">
                <a:latin typeface="Times New Roman" panose="02020603050405020304" pitchFamily="18" charset="0"/>
                <a:cs typeface="Times New Roman" panose="02020603050405020304" pitchFamily="18" charset="0"/>
              </a:rPr>
              <a:t>Forces</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Innovation locale adaptée au marché camerounais</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Simplicité d’utilisation</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Centralisation des activités</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Réservation et paiement intégrés</a:t>
            </a:r>
          </a:p>
          <a:p>
            <a:pPr>
              <a:buFont typeface="Wingdings" pitchFamily="2" charset="2"/>
              <a:buChar char="Ø"/>
            </a:pPr>
            <a:r>
              <a:rPr lang="fr-CM" sz="1600" dirty="0">
                <a:latin typeface="Times New Roman" panose="02020603050405020304" pitchFamily="18" charset="0"/>
                <a:cs typeface="Times New Roman" panose="02020603050405020304" pitchFamily="18" charset="0"/>
              </a:rPr>
              <a:t>Faiblesses</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Nouvelle marque</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Ressources limitées</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Faible notoriété initiale</a:t>
            </a:r>
          </a:p>
          <a:p>
            <a:pPr>
              <a:buFont typeface="Wingdings" pitchFamily="2" charset="2"/>
              <a:buChar char="Ø"/>
            </a:pPr>
            <a:r>
              <a:rPr lang="fr-CM" sz="1600" dirty="0">
                <a:latin typeface="Times New Roman" panose="02020603050405020304" pitchFamily="18" charset="0"/>
                <a:cs typeface="Times New Roman" panose="02020603050405020304" pitchFamily="18" charset="0"/>
              </a:rPr>
              <a:t>Opportunités </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Croissance du digital</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Forte consommation mobile</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Besoin réel de centralisation</a:t>
            </a:r>
          </a:p>
          <a:p>
            <a:pPr>
              <a:buFont typeface="Wingdings" pitchFamily="2" charset="2"/>
              <a:buChar char="Ø"/>
            </a:pPr>
            <a:r>
              <a:rPr lang="fr-CM" sz="1600" dirty="0">
                <a:latin typeface="Times New Roman" panose="02020603050405020304" pitchFamily="18" charset="0"/>
                <a:cs typeface="Times New Roman" panose="02020603050405020304" pitchFamily="18" charset="0"/>
              </a:rPr>
              <a:t>Menaces</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Concurrence indirecte</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Résistance au changement</a:t>
            </a:r>
          </a:p>
          <a:p>
            <a:pPr>
              <a:buFont typeface="Arial" panose="020B0604020202020204" pitchFamily="34" charset="0"/>
              <a:buChar char="•"/>
            </a:pPr>
            <a:r>
              <a:rPr lang="fr-CM" sz="1600" dirty="0">
                <a:latin typeface="Times New Roman" panose="02020603050405020304" pitchFamily="18" charset="0"/>
                <a:cs typeface="Times New Roman" panose="02020603050405020304" pitchFamily="18" charset="0"/>
              </a:rPr>
              <a:t>Dépendance à la confiance numérique</a:t>
            </a:r>
          </a:p>
          <a:p>
            <a:pPr marL="0" indent="0">
              <a:buNone/>
            </a:pPr>
            <a:endParaRPr lang="fr-CM" sz="1600" dirty="0">
              <a:latin typeface="Times New Roman" panose="02020603050405020304" pitchFamily="18" charset="0"/>
              <a:cs typeface="Times New Roman" panose="02020603050405020304" pitchFamily="18" charset="0"/>
            </a:endParaRPr>
          </a:p>
          <a:p>
            <a:pPr marL="0" indent="0">
              <a:buNone/>
            </a:pPr>
            <a:endParaRPr lang="fr-CM" sz="1600" dirty="0">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208307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B3C255-A2E9-F6CD-2FDB-95F25AB7F706}"/>
              </a:ext>
            </a:extLst>
          </p:cNvPr>
          <p:cNvSpPr>
            <a:spLocks noGrp="1"/>
          </p:cNvSpPr>
          <p:nvPr>
            <p:ph type="title"/>
          </p:nvPr>
        </p:nvSpPr>
        <p:spPr>
          <a:xfrm>
            <a:off x="2243925" y="1487347"/>
            <a:ext cx="8911687" cy="731724"/>
          </a:xfrm>
        </p:spPr>
        <p:txBody>
          <a:bodyPr>
            <a:normAutofit/>
          </a:bodyPr>
          <a:lstStyle/>
          <a:p>
            <a:pPr algn="ctr"/>
            <a:r>
              <a:rPr lang="fr-FR" sz="2800" dirty="0">
                <a:latin typeface="Times New Roman" panose="02020603050405020304" pitchFamily="18" charset="0"/>
                <a:cs typeface="Times New Roman" panose="02020603050405020304" pitchFamily="18" charset="0"/>
              </a:rPr>
              <a:t>PROBLÉMATIQUES DE COMMUNICATION</a:t>
            </a:r>
          </a:p>
        </p:txBody>
      </p:sp>
      <p:sp>
        <p:nvSpPr>
          <p:cNvPr id="3" name="Espace réservé du contenu 2">
            <a:extLst>
              <a:ext uri="{FF2B5EF4-FFF2-40B4-BE49-F238E27FC236}">
                <a16:creationId xmlns:a16="http://schemas.microsoft.com/office/drawing/2014/main" id="{ECABD890-12C8-57AF-F69C-22D5EC752167}"/>
              </a:ext>
            </a:extLst>
          </p:cNvPr>
          <p:cNvSpPr>
            <a:spLocks noGrp="1"/>
          </p:cNvSpPr>
          <p:nvPr>
            <p:ph idx="1"/>
          </p:nvPr>
        </p:nvSpPr>
        <p:spPr>
          <a:xfrm>
            <a:off x="2303362" y="2398388"/>
            <a:ext cx="8792815" cy="3134311"/>
          </a:xfrm>
        </p:spPr>
        <p:txBody>
          <a:bodyPr/>
          <a:lstStyle/>
          <a:p>
            <a:pPr marL="0" indent="0" algn="just">
              <a:lnSpc>
                <a:spcPct val="150000"/>
              </a:lnSpc>
              <a:buNone/>
            </a:pPr>
            <a:r>
              <a:rPr lang="fr-FR" dirty="0">
                <a:latin typeface="Times New Roman" panose="02020603050405020304" pitchFamily="18" charset="0"/>
                <a:cs typeface="Times New Roman" panose="02020603050405020304" pitchFamily="18" charset="0"/>
              </a:rPr>
              <a:t>Malgré son fort potentiel, 237Vibes reste inconnue du grand public et des prestataires locaux , ce qui limite son utilisation et son développement . </a:t>
            </a:r>
            <a:r>
              <a:rPr lang="fr-CM" dirty="0">
                <a:latin typeface="Times New Roman" panose="02020603050405020304" pitchFamily="18" charset="0"/>
                <a:cs typeface="Times New Roman" panose="02020603050405020304" pitchFamily="18" charset="0"/>
              </a:rPr>
              <a:t>Sa réussite dépend donc de sa capacité à se faire connaître rapidement et à démontrer sa valeur ajoutée.</a:t>
            </a:r>
          </a:p>
          <a:p>
            <a:pPr marL="0" indent="0" algn="just">
              <a:lnSpc>
                <a:spcPct val="150000"/>
              </a:lnSpc>
              <a:buNone/>
            </a:pPr>
            <a:r>
              <a:rPr lang="fr-CM" dirty="0">
                <a:latin typeface="Times New Roman" panose="02020603050405020304" pitchFamily="18" charset="0"/>
                <a:cs typeface="Times New Roman" panose="02020603050405020304" pitchFamily="18" charset="0"/>
              </a:rPr>
              <a:t>La problématique centrale est la suivante :</a:t>
            </a:r>
          </a:p>
          <a:p>
            <a:pPr marL="0" indent="0" algn="just">
              <a:lnSpc>
                <a:spcPct val="150000"/>
              </a:lnSpc>
              <a:buNone/>
            </a:pPr>
            <a:r>
              <a:rPr lang="fr-CM" dirty="0">
                <a:latin typeface="Times New Roman" panose="02020603050405020304" pitchFamily="18" charset="0"/>
                <a:cs typeface="Times New Roman" panose="02020603050405020304" pitchFamily="18" charset="0"/>
              </a:rPr>
              <a:t>Comment assurer la visibilité de 237VIBES et inciter efficacement les utilisateurs ainsi que les prestataires locaux à adopter la plateforme ?</a:t>
            </a:r>
          </a:p>
          <a:p>
            <a:pPr marL="0" indent="0">
              <a:buNone/>
            </a:pPr>
            <a:endParaRPr lang="fr-FR" dirty="0"/>
          </a:p>
        </p:txBody>
      </p:sp>
    </p:spTree>
    <p:extLst>
      <p:ext uri="{BB962C8B-B14F-4D97-AF65-F5344CB8AC3E}">
        <p14:creationId xmlns:p14="http://schemas.microsoft.com/office/powerpoint/2010/main" val="3792216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E1725-6440-42F4-90DE-C08A55E2670D}"/>
              </a:ext>
            </a:extLst>
          </p:cNvPr>
          <p:cNvSpPr>
            <a:spLocks noGrp="1"/>
          </p:cNvSpPr>
          <p:nvPr>
            <p:ph type="title"/>
          </p:nvPr>
        </p:nvSpPr>
        <p:spPr>
          <a:xfrm>
            <a:off x="2327331" y="1061230"/>
            <a:ext cx="8911687" cy="773357"/>
          </a:xfrm>
        </p:spPr>
        <p:txBody>
          <a:bodyPr>
            <a:normAutofit/>
          </a:bodyPr>
          <a:lstStyle/>
          <a:p>
            <a:pPr algn="ctr"/>
            <a:r>
              <a:rPr lang="fr-FR" sz="2800" dirty="0">
                <a:latin typeface="Times New Roman" panose="02020603050405020304" pitchFamily="18" charset="0"/>
                <a:cs typeface="Times New Roman" panose="02020603050405020304" pitchFamily="18" charset="0"/>
              </a:rPr>
              <a:t>OBJECTIFS DE COMMUNICATION </a:t>
            </a:r>
          </a:p>
        </p:txBody>
      </p:sp>
      <p:sp>
        <p:nvSpPr>
          <p:cNvPr id="3" name="Espace réservé du contenu 2">
            <a:extLst>
              <a:ext uri="{FF2B5EF4-FFF2-40B4-BE49-F238E27FC236}">
                <a16:creationId xmlns:a16="http://schemas.microsoft.com/office/drawing/2014/main" id="{1E8BED69-441A-743E-FA8D-3D26D71BC697}"/>
              </a:ext>
            </a:extLst>
          </p:cNvPr>
          <p:cNvSpPr>
            <a:spLocks noGrp="1"/>
          </p:cNvSpPr>
          <p:nvPr>
            <p:ph idx="1"/>
          </p:nvPr>
        </p:nvSpPr>
        <p:spPr>
          <a:xfrm>
            <a:off x="2327331" y="2144160"/>
            <a:ext cx="9205267" cy="3872529"/>
          </a:xfrm>
        </p:spPr>
        <p:txBody>
          <a:bodyPr/>
          <a:lstStyle/>
          <a:p>
            <a:pPr marL="0" indent="0">
              <a:buNone/>
            </a:pPr>
            <a:r>
              <a:rPr lang="fr-CM" dirty="0">
                <a:latin typeface="Times New Roman" panose="02020603050405020304" pitchFamily="18" charset="0"/>
                <a:cs typeface="Times New Roman" panose="02020603050405020304" pitchFamily="18" charset="0"/>
              </a:rPr>
              <a:t>L’objectif principal est de positionner 237VIBES comme la référence de découverte et de réservation d’activités locales au Cameroun.</a:t>
            </a:r>
          </a:p>
          <a:p>
            <a:pPr marL="0" indent="0">
              <a:buNone/>
            </a:pPr>
            <a:r>
              <a:rPr lang="fr-CM" dirty="0">
                <a:latin typeface="Times New Roman" panose="02020603050405020304" pitchFamily="18" charset="0"/>
                <a:cs typeface="Times New Roman" panose="02020603050405020304" pitchFamily="18" charset="0"/>
              </a:rPr>
              <a:t>De manière spécifique, la campagne vise à :</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Atteindre 10 000 téléchargements en trois mois, grâce à une forte présence digitale et à des campagnes ciblées ;</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Intégrer 100 prestataires partenaires durant la phase de lancement ;</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Générer un taux d’engagement élevé sur les réseaux sociaux ;</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Construire une communauté digitale active autour de la marque.</a:t>
            </a:r>
          </a:p>
          <a:p>
            <a:pPr marL="0" indent="0">
              <a:buNone/>
            </a:pPr>
            <a:r>
              <a:rPr lang="fr-CM" dirty="0">
                <a:latin typeface="Times New Roman" panose="02020603050405020304" pitchFamily="18" charset="0"/>
                <a:cs typeface="Times New Roman" panose="02020603050405020304" pitchFamily="18" charset="0"/>
              </a:rPr>
              <a:t>Ces objectifs sont réalistes compte tenu de la forte concentration du public cible sur les canaux numériques.</a:t>
            </a:r>
          </a:p>
          <a:p>
            <a:pPr marL="0" indent="0">
              <a:buNone/>
            </a:pPr>
            <a:endParaRPr lang="fr-FR" dirty="0"/>
          </a:p>
        </p:txBody>
      </p:sp>
    </p:spTree>
    <p:extLst>
      <p:ext uri="{BB962C8B-B14F-4D97-AF65-F5344CB8AC3E}">
        <p14:creationId xmlns:p14="http://schemas.microsoft.com/office/powerpoint/2010/main" val="3621530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537EC3-1025-D58C-9FDF-D2A22C83D9AB}"/>
              </a:ext>
            </a:extLst>
          </p:cNvPr>
          <p:cNvSpPr>
            <a:spLocks noGrp="1"/>
          </p:cNvSpPr>
          <p:nvPr>
            <p:ph type="title"/>
          </p:nvPr>
        </p:nvSpPr>
        <p:spPr>
          <a:xfrm>
            <a:off x="2506823" y="480551"/>
            <a:ext cx="8911687" cy="693682"/>
          </a:xfrm>
        </p:spPr>
        <p:txBody>
          <a:bodyPr>
            <a:normAutofit/>
          </a:bodyPr>
          <a:lstStyle/>
          <a:p>
            <a:pPr algn="ctr"/>
            <a:r>
              <a:rPr lang="fr-FR" sz="2800" dirty="0">
                <a:latin typeface="Times New Roman" panose="02020603050405020304" pitchFamily="18" charset="0"/>
                <a:cs typeface="Times New Roman" panose="02020603050405020304" pitchFamily="18" charset="0"/>
              </a:rPr>
              <a:t>PUBLICS CIBLES</a:t>
            </a:r>
          </a:p>
        </p:txBody>
      </p:sp>
      <p:sp>
        <p:nvSpPr>
          <p:cNvPr id="3" name="Espace réservé du contenu 2">
            <a:extLst>
              <a:ext uri="{FF2B5EF4-FFF2-40B4-BE49-F238E27FC236}">
                <a16:creationId xmlns:a16="http://schemas.microsoft.com/office/drawing/2014/main" id="{AA5BE604-92C0-6A55-1045-D2C1AF7D54CB}"/>
              </a:ext>
            </a:extLst>
          </p:cNvPr>
          <p:cNvSpPr>
            <a:spLocks noGrp="1"/>
          </p:cNvSpPr>
          <p:nvPr>
            <p:ph idx="1"/>
          </p:nvPr>
        </p:nvSpPr>
        <p:spPr>
          <a:xfrm>
            <a:off x="2216205" y="1405727"/>
            <a:ext cx="9492925" cy="4543660"/>
          </a:xfrm>
        </p:spPr>
        <p:txBody>
          <a:bodyPr>
            <a:normAutofit fontScale="25000" lnSpcReduction="20000"/>
          </a:bodyPr>
          <a:lstStyle/>
          <a:p>
            <a:pPr marL="0" indent="0" algn="just">
              <a:buNone/>
            </a:pPr>
            <a:r>
              <a:rPr lang="fr-CM" sz="5600" dirty="0">
                <a:latin typeface="Times New Roman" panose="02020603050405020304" pitchFamily="18" charset="0"/>
                <a:cs typeface="Times New Roman" panose="02020603050405020304" pitchFamily="18" charset="0"/>
              </a:rPr>
              <a:t>La campagne de communication de 237Vibes s’adresse à plusieurs segments de publics, en fonction de leurs besoins et usages. L’application cible les personnes actives à la recherche d’activités locales accessibles et facilement réservables. Elle concerne notamment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Les jeunes adultes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Les étudiants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Les jeunes professionnels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Les familles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Les amateurs de sorties culturelles et récréatives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Les touristes et visiteurs.</a:t>
            </a:r>
          </a:p>
          <a:p>
            <a:pPr marL="0" indent="0" algn="just">
              <a:buNone/>
            </a:pPr>
            <a:endParaRPr lang="fr-CM" sz="5600" dirty="0">
              <a:latin typeface="Times New Roman" panose="02020603050405020304" pitchFamily="18" charset="0"/>
              <a:cs typeface="Times New Roman" panose="02020603050405020304" pitchFamily="18" charset="0"/>
            </a:endParaRPr>
          </a:p>
          <a:p>
            <a:pPr marL="0" indent="0" algn="just">
              <a:buNone/>
            </a:pPr>
            <a:r>
              <a:rPr lang="fr-CM" sz="5600" dirty="0">
                <a:latin typeface="Times New Roman" panose="02020603050405020304" pitchFamily="18" charset="0"/>
                <a:cs typeface="Times New Roman" panose="02020603050405020304" pitchFamily="18" charset="0"/>
              </a:rPr>
              <a:t>Ces utilisateurs recherchent des solutions simples pour découvrir rapidement les meilleures activités disponibles autour d’eux.</a:t>
            </a:r>
          </a:p>
          <a:p>
            <a:pPr marL="0" indent="0" algn="just">
              <a:buNone/>
            </a:pPr>
            <a:r>
              <a:rPr lang="fr-CM" sz="5600" dirty="0">
                <a:latin typeface="Times New Roman" panose="02020603050405020304" pitchFamily="18" charset="0"/>
                <a:cs typeface="Times New Roman" panose="02020603050405020304" pitchFamily="18" charset="0"/>
              </a:rPr>
              <a:t>237VIBES s’adresse également aux acteurs locaux souhaitant accroître leur visibilité et développer leur clientèle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Restaurants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Organisateurs d’événements ;</a:t>
            </a:r>
          </a:p>
          <a:p>
            <a:pPr algn="just">
              <a:buFont typeface="Arial" panose="020B0604020202020204" pitchFamily="34" charset="0"/>
              <a:buChar char="•"/>
            </a:pPr>
            <a:r>
              <a:rPr lang="fr-CM" sz="5600" dirty="0">
                <a:latin typeface="Times New Roman" panose="02020603050405020304" pitchFamily="18" charset="0"/>
                <a:cs typeface="Times New Roman" panose="02020603050405020304" pitchFamily="18" charset="0"/>
              </a:rPr>
              <a:t>Centres de loisirs ;</a:t>
            </a:r>
          </a:p>
          <a:p>
            <a:pPr marL="0" indent="0">
              <a:buNone/>
            </a:pPr>
            <a:endParaRPr lang="fr-CM" sz="5600" dirty="0">
              <a:latin typeface="Times New Roman" panose="02020603050405020304" pitchFamily="18" charset="0"/>
              <a:cs typeface="Times New Roman" panose="02020603050405020304" pitchFamily="18" charset="0"/>
            </a:endParaRPr>
          </a:p>
          <a:p>
            <a:pPr marL="0" indent="0">
              <a:buNone/>
            </a:pPr>
            <a:endParaRPr lang="fr-CM" dirty="0">
              <a:latin typeface="Helvetica Neue" panose="02000503000000020004" pitchFamily="2" charset="0"/>
            </a:endParaRPr>
          </a:p>
        </p:txBody>
      </p:sp>
    </p:spTree>
    <p:extLst>
      <p:ext uri="{BB962C8B-B14F-4D97-AF65-F5344CB8AC3E}">
        <p14:creationId xmlns:p14="http://schemas.microsoft.com/office/powerpoint/2010/main" val="2508323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4622212-C1DC-6C7A-A0A5-78A58B21312C}"/>
              </a:ext>
            </a:extLst>
          </p:cNvPr>
          <p:cNvSpPr>
            <a:spLocks noGrp="1"/>
          </p:cNvSpPr>
          <p:nvPr>
            <p:ph idx="1"/>
          </p:nvPr>
        </p:nvSpPr>
        <p:spPr>
          <a:xfrm>
            <a:off x="2438741" y="1540189"/>
            <a:ext cx="8915400" cy="3777622"/>
          </a:xfrm>
        </p:spPr>
        <p:txBody>
          <a:bodyPr>
            <a:normAutofit/>
          </a:bodyPr>
          <a:lstStyle/>
          <a:p>
            <a:pPr algn="just">
              <a:buFont typeface="Arial" panose="020B0604020202020204" pitchFamily="34" charset="0"/>
              <a:buChar char="•"/>
            </a:pPr>
            <a:r>
              <a:rPr lang="fr-CM" sz="1800" dirty="0">
                <a:latin typeface="Times New Roman" panose="02020603050405020304" pitchFamily="18" charset="0"/>
                <a:cs typeface="Times New Roman" panose="02020603050405020304" pitchFamily="18" charset="0"/>
              </a:rPr>
              <a:t>Espaces culturels ;</a:t>
            </a:r>
          </a:p>
          <a:p>
            <a:pPr algn="just">
              <a:buFont typeface="Arial" panose="020B0604020202020204" pitchFamily="34" charset="0"/>
              <a:buChar char="•"/>
            </a:pPr>
            <a:r>
              <a:rPr lang="fr-CM" sz="1800" dirty="0">
                <a:latin typeface="Times New Roman" panose="02020603050405020304" pitchFamily="18" charset="0"/>
                <a:cs typeface="Times New Roman" panose="02020603050405020304" pitchFamily="18" charset="0"/>
              </a:rPr>
              <a:t>Structures touristiques ;</a:t>
            </a:r>
          </a:p>
          <a:p>
            <a:pPr algn="just">
              <a:buFont typeface="Arial" panose="020B0604020202020204" pitchFamily="34" charset="0"/>
              <a:buChar char="•"/>
            </a:pPr>
            <a:r>
              <a:rPr lang="fr-CM" sz="1800" dirty="0">
                <a:latin typeface="Times New Roman" panose="02020603050405020304" pitchFamily="18" charset="0"/>
                <a:cs typeface="Times New Roman" panose="02020603050405020304" pitchFamily="18" charset="0"/>
              </a:rPr>
              <a:t>Prestataires d’activités diverses.</a:t>
            </a:r>
          </a:p>
          <a:p>
            <a:pPr marL="0" indent="0" algn="just">
              <a:buNone/>
            </a:pPr>
            <a:endParaRPr lang="fr-CM" sz="1800" dirty="0">
              <a:latin typeface="Times New Roman" panose="02020603050405020304" pitchFamily="18" charset="0"/>
              <a:cs typeface="Times New Roman" panose="02020603050405020304" pitchFamily="18" charset="0"/>
            </a:endParaRPr>
          </a:p>
          <a:p>
            <a:pPr marL="0" indent="0">
              <a:buNone/>
            </a:pPr>
            <a:r>
              <a:rPr lang="fr-CM" sz="1800" dirty="0">
                <a:latin typeface="Times New Roman" panose="02020603050405020304" pitchFamily="18" charset="0"/>
                <a:cs typeface="Times New Roman" panose="02020603050405020304" pitchFamily="18" charset="0"/>
              </a:rPr>
              <a:t>Les relais d’influence</a:t>
            </a:r>
          </a:p>
          <a:p>
            <a:pPr>
              <a:buFont typeface="Arial" panose="020B0604020202020204" pitchFamily="34" charset="0"/>
              <a:buChar char="•"/>
            </a:pPr>
            <a:r>
              <a:rPr lang="fr-CM" sz="1800" dirty="0">
                <a:latin typeface="Times New Roman" panose="02020603050405020304" pitchFamily="18" charset="0"/>
                <a:cs typeface="Times New Roman" panose="02020603050405020304" pitchFamily="18" charset="0"/>
              </a:rPr>
              <a:t>Influenceurs digitaux ;</a:t>
            </a:r>
          </a:p>
          <a:p>
            <a:pPr>
              <a:buFont typeface="Arial" panose="020B0604020202020204" pitchFamily="34" charset="0"/>
              <a:buChar char="•"/>
            </a:pPr>
            <a:r>
              <a:rPr lang="fr-CM" sz="1800" dirty="0">
                <a:latin typeface="Times New Roman" panose="02020603050405020304" pitchFamily="18" charset="0"/>
                <a:cs typeface="Times New Roman" panose="02020603050405020304" pitchFamily="18" charset="0"/>
              </a:rPr>
              <a:t>Créateurs de contenu lifestyle ;</a:t>
            </a:r>
          </a:p>
          <a:p>
            <a:pPr>
              <a:buFont typeface="Arial" panose="020B0604020202020204" pitchFamily="34" charset="0"/>
              <a:buChar char="•"/>
            </a:pPr>
            <a:r>
              <a:rPr lang="fr-CM" sz="1800" dirty="0">
                <a:latin typeface="Times New Roman" panose="02020603050405020304" pitchFamily="18" charset="0"/>
                <a:cs typeface="Times New Roman" panose="02020603050405020304" pitchFamily="18" charset="0"/>
              </a:rPr>
              <a:t>Leaders d’opinion jeunes</a:t>
            </a:r>
            <a:endParaRPr lang="fr-FR" dirty="0"/>
          </a:p>
        </p:txBody>
      </p:sp>
    </p:spTree>
    <p:extLst>
      <p:ext uri="{BB962C8B-B14F-4D97-AF65-F5344CB8AC3E}">
        <p14:creationId xmlns:p14="http://schemas.microsoft.com/office/powerpoint/2010/main" val="733434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2F4262-30BC-2F3B-5B13-B21CD88139A5}"/>
              </a:ext>
            </a:extLst>
          </p:cNvPr>
          <p:cNvSpPr>
            <a:spLocks noGrp="1"/>
          </p:cNvSpPr>
          <p:nvPr>
            <p:ph type="title"/>
          </p:nvPr>
        </p:nvSpPr>
        <p:spPr>
          <a:xfrm>
            <a:off x="2386388" y="516533"/>
            <a:ext cx="8911687" cy="668663"/>
          </a:xfrm>
        </p:spPr>
        <p:txBody>
          <a:bodyPr>
            <a:normAutofit/>
          </a:bodyPr>
          <a:lstStyle/>
          <a:p>
            <a:pPr algn="ctr"/>
            <a:r>
              <a:rPr lang="fr-FR" sz="2800" dirty="0">
                <a:latin typeface="Times New Roman" panose="02020603050405020304" pitchFamily="18" charset="0"/>
                <a:cs typeface="Times New Roman" panose="02020603050405020304" pitchFamily="18" charset="0"/>
              </a:rPr>
              <a:t>STRATÉGIE ET MESSAGES </a:t>
            </a:r>
          </a:p>
        </p:txBody>
      </p:sp>
      <p:sp>
        <p:nvSpPr>
          <p:cNvPr id="3" name="Espace réservé du contenu 2">
            <a:extLst>
              <a:ext uri="{FF2B5EF4-FFF2-40B4-BE49-F238E27FC236}">
                <a16:creationId xmlns:a16="http://schemas.microsoft.com/office/drawing/2014/main" id="{27B10CBD-768B-1E96-41CD-172D3863E9B6}"/>
              </a:ext>
            </a:extLst>
          </p:cNvPr>
          <p:cNvSpPr>
            <a:spLocks noGrp="1"/>
          </p:cNvSpPr>
          <p:nvPr>
            <p:ph idx="1"/>
          </p:nvPr>
        </p:nvSpPr>
        <p:spPr>
          <a:xfrm>
            <a:off x="1749970" y="1241746"/>
            <a:ext cx="10184525" cy="5099721"/>
          </a:xfrm>
        </p:spPr>
        <p:txBody>
          <a:bodyPr>
            <a:normAutofit/>
          </a:bodyPr>
          <a:lstStyle/>
          <a:p>
            <a:pPr marL="0" indent="0" algn="just">
              <a:buNone/>
            </a:pPr>
            <a:r>
              <a:rPr lang="fr-CM" dirty="0">
                <a:latin typeface="Times New Roman" panose="02020603050405020304" pitchFamily="18" charset="0"/>
                <a:cs typeface="Times New Roman" panose="02020603050405020304" pitchFamily="18" charset="0"/>
              </a:rPr>
              <a:t>La stratégie repose sur une approche expérientielle et démonstrative. Plutôt que de simplement promouvoir l’application, la campagne mettra en scène des situations concrètes montrant comment 237VIBES simplifie l’accès aux activités locales. Cette stratégie s’appuiera sur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Des vidéos de démonstration de réservation en temps réel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Des challenges interactifs sur TikTok et Instagram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Des activations terrain dans les universités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Une diffusion virale via WhatsApp.</a:t>
            </a:r>
          </a:p>
          <a:p>
            <a:pPr marL="0" indent="0" algn="just">
              <a:buNone/>
            </a:pPr>
            <a:r>
              <a:rPr lang="fr-CM" dirty="0">
                <a:latin typeface="Times New Roman" panose="02020603050405020304" pitchFamily="18" charset="0"/>
                <a:cs typeface="Times New Roman" panose="02020603050405020304" pitchFamily="18" charset="0"/>
              </a:rPr>
              <a:t>Le message central de la campagne est :</a:t>
            </a:r>
          </a:p>
          <a:p>
            <a:pPr marL="0" indent="0" algn="just">
              <a:buNone/>
            </a:pPr>
            <a:r>
              <a:rPr lang="fr-CM" dirty="0">
                <a:latin typeface="Times New Roman" panose="02020603050405020304" pitchFamily="18" charset="0"/>
                <a:cs typeface="Times New Roman" panose="02020603050405020304" pitchFamily="18" charset="0"/>
              </a:rPr>
              <a:t>« 237Vibes : découvre, réserve et vis les meilleures expériences autour de toi. »</a:t>
            </a:r>
          </a:p>
          <a:p>
            <a:pPr marL="0" indent="0" algn="just">
              <a:buNone/>
            </a:pPr>
            <a:r>
              <a:rPr lang="fr-CM" dirty="0">
                <a:latin typeface="Times New Roman" panose="02020603050405020304" pitchFamily="18" charset="0"/>
                <a:cs typeface="Times New Roman" panose="02020603050405020304" pitchFamily="18" charset="0"/>
              </a:rPr>
              <a:t>Ce message valorise la proximité, la simplicité et l’expérience utilisateur.</a:t>
            </a:r>
          </a:p>
          <a:p>
            <a:pPr marL="0" indent="0">
              <a:buNone/>
            </a:pPr>
            <a:endParaRPr lang="fr-FR" dirty="0"/>
          </a:p>
        </p:txBody>
      </p:sp>
    </p:spTree>
    <p:extLst>
      <p:ext uri="{BB962C8B-B14F-4D97-AF65-F5344CB8AC3E}">
        <p14:creationId xmlns:p14="http://schemas.microsoft.com/office/powerpoint/2010/main" val="1969045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E76E91-E2F9-3B0A-52A4-24CCCE2C63AC}"/>
              </a:ext>
            </a:extLst>
          </p:cNvPr>
          <p:cNvSpPr>
            <a:spLocks noGrp="1"/>
          </p:cNvSpPr>
          <p:nvPr>
            <p:ph type="title"/>
          </p:nvPr>
        </p:nvSpPr>
        <p:spPr>
          <a:xfrm>
            <a:off x="2589210" y="297259"/>
            <a:ext cx="8911687" cy="568155"/>
          </a:xfrm>
        </p:spPr>
        <p:txBody>
          <a:bodyPr>
            <a:normAutofit/>
          </a:bodyPr>
          <a:lstStyle/>
          <a:p>
            <a:pPr algn="ctr"/>
            <a:r>
              <a:rPr lang="fr-FR" sz="2800" dirty="0">
                <a:latin typeface="Times New Roman" panose="02020603050405020304" pitchFamily="18" charset="0"/>
                <a:cs typeface="Times New Roman" panose="02020603050405020304" pitchFamily="18" charset="0"/>
              </a:rPr>
              <a:t>PLAN D’ACTIONS (STRATÉGIE OPÉRATIONNELLE)</a:t>
            </a:r>
          </a:p>
        </p:txBody>
      </p:sp>
      <p:sp>
        <p:nvSpPr>
          <p:cNvPr id="3" name="Espace réservé du contenu 2">
            <a:extLst>
              <a:ext uri="{FF2B5EF4-FFF2-40B4-BE49-F238E27FC236}">
                <a16:creationId xmlns:a16="http://schemas.microsoft.com/office/drawing/2014/main" id="{79B343E6-8499-29A1-9F6E-AC4B73E25426}"/>
              </a:ext>
            </a:extLst>
          </p:cNvPr>
          <p:cNvSpPr>
            <a:spLocks noGrp="1"/>
          </p:cNvSpPr>
          <p:nvPr>
            <p:ph idx="1"/>
          </p:nvPr>
        </p:nvSpPr>
        <p:spPr>
          <a:xfrm>
            <a:off x="2366919" y="1302941"/>
            <a:ext cx="9356271" cy="5257800"/>
          </a:xfrm>
        </p:spPr>
        <p:txBody>
          <a:bodyPr>
            <a:normAutofit/>
          </a:bodyPr>
          <a:lstStyle/>
          <a:p>
            <a:pPr marL="0" indent="0" algn="just">
              <a:buNone/>
            </a:pPr>
            <a:r>
              <a:rPr lang="fr-CM" dirty="0">
                <a:latin typeface="Times New Roman" panose="02020603050405020304" pitchFamily="18" charset="0"/>
                <a:cs typeface="Times New Roman" panose="02020603050405020304" pitchFamily="18" charset="0"/>
              </a:rPr>
              <a:t>La campagne se déploiera en quatre phases.</a:t>
            </a:r>
          </a:p>
          <a:p>
            <a:pPr marL="0" indent="0" algn="just">
              <a:buNone/>
            </a:pPr>
            <a:endParaRPr lang="fr-CM" dirty="0">
              <a:latin typeface="Times New Roman" panose="02020603050405020304" pitchFamily="18" charset="0"/>
              <a:cs typeface="Times New Roman" panose="02020603050405020304" pitchFamily="18" charset="0"/>
            </a:endParaRPr>
          </a:p>
          <a:p>
            <a:pPr marL="0" indent="0" algn="just">
              <a:buNone/>
            </a:pPr>
            <a:r>
              <a:rPr lang="fr-CM" b="1" dirty="0">
                <a:latin typeface="Times New Roman" panose="02020603050405020304" pitchFamily="18" charset="0"/>
                <a:cs typeface="Times New Roman" panose="02020603050405020304" pitchFamily="18" charset="0"/>
              </a:rPr>
              <a:t>PHASE 1 : TEASING</a:t>
            </a:r>
          </a:p>
          <a:p>
            <a:pPr marL="0" indent="0" algn="just">
              <a:buNone/>
            </a:pPr>
            <a:r>
              <a:rPr lang="fr-CM" dirty="0">
                <a:latin typeface="Times New Roman" panose="02020603050405020304" pitchFamily="18" charset="0"/>
                <a:cs typeface="Times New Roman" panose="02020603050405020304" pitchFamily="18" charset="0"/>
              </a:rPr>
              <a:t>Diffusion de contenus intrigants sur les réseaux sociaux autour de la question :</a:t>
            </a:r>
          </a:p>
          <a:p>
            <a:pPr marL="0" indent="0" algn="just">
              <a:buNone/>
            </a:pPr>
            <a:endParaRPr lang="fr-CM" dirty="0">
              <a:latin typeface="Times New Roman" panose="02020603050405020304" pitchFamily="18" charset="0"/>
              <a:cs typeface="Times New Roman" panose="02020603050405020304" pitchFamily="18" charset="0"/>
            </a:endParaRPr>
          </a:p>
          <a:p>
            <a:pPr marL="0" indent="0" algn="just">
              <a:buNone/>
            </a:pPr>
            <a:r>
              <a:rPr lang="fr-CM" b="1" dirty="0">
                <a:latin typeface="Times New Roman" panose="02020603050405020304" pitchFamily="18" charset="0"/>
                <a:cs typeface="Times New Roman" panose="02020603050405020304" pitchFamily="18" charset="0"/>
              </a:rPr>
              <a:t>      “ET SI TU RATAIS CE QUI SE PASSE AUTOUR DE TOI ?”</a:t>
            </a:r>
          </a:p>
          <a:p>
            <a:pPr marL="0" indent="0" algn="just">
              <a:buNone/>
            </a:pPr>
            <a:endParaRPr lang="fr-CM" b="1" dirty="0">
              <a:latin typeface="Times New Roman" panose="02020603050405020304" pitchFamily="18" charset="0"/>
              <a:cs typeface="Times New Roman" panose="02020603050405020304" pitchFamily="18" charset="0"/>
            </a:endParaRPr>
          </a:p>
          <a:p>
            <a:pPr marL="0" indent="0" algn="just">
              <a:buNone/>
            </a:pPr>
            <a:r>
              <a:rPr lang="fr-CM" dirty="0">
                <a:latin typeface="Times New Roman" panose="02020603050405020304" pitchFamily="18" charset="0"/>
                <a:cs typeface="Times New Roman" panose="02020603050405020304" pitchFamily="18" charset="0"/>
              </a:rPr>
              <a:t> </a:t>
            </a:r>
            <a:r>
              <a:rPr lang="fr-CM" b="1" dirty="0">
                <a:latin typeface="Times New Roman" panose="02020603050405020304" pitchFamily="18" charset="0"/>
                <a:cs typeface="Times New Roman" panose="02020603050405020304" pitchFamily="18" charset="0"/>
              </a:rPr>
              <a:t>PHASE 2 : RÉVÉLATION</a:t>
            </a:r>
          </a:p>
          <a:p>
            <a:pPr marL="0" indent="0" algn="just">
              <a:buNone/>
            </a:pPr>
            <a:r>
              <a:rPr lang="fr-CM" dirty="0">
                <a:latin typeface="Times New Roman" panose="02020603050405020304" pitchFamily="18" charset="0"/>
                <a:cs typeface="Times New Roman" panose="02020603050405020304" pitchFamily="18" charset="0"/>
              </a:rPr>
              <a:t>Lancement officiel avec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Vidéo promotionnelle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Présentation des fonctionnalités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Communication auprès des influenceurs.</a:t>
            </a:r>
          </a:p>
          <a:p>
            <a:pPr marL="0" indent="0">
              <a:buNone/>
            </a:pPr>
            <a:endParaRPr lang="fr-CM" dirty="0">
              <a:latin typeface="Helvetica Neue" panose="02000503000000020004" pitchFamily="2" charset="0"/>
            </a:endParaRPr>
          </a:p>
        </p:txBody>
      </p:sp>
    </p:spTree>
    <p:extLst>
      <p:ext uri="{BB962C8B-B14F-4D97-AF65-F5344CB8AC3E}">
        <p14:creationId xmlns:p14="http://schemas.microsoft.com/office/powerpoint/2010/main" val="1859650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5C8E70A-2D26-C50A-1971-16E6678E8021}"/>
              </a:ext>
            </a:extLst>
          </p:cNvPr>
          <p:cNvSpPr>
            <a:spLocks noGrp="1"/>
          </p:cNvSpPr>
          <p:nvPr>
            <p:ph idx="1"/>
          </p:nvPr>
        </p:nvSpPr>
        <p:spPr>
          <a:xfrm>
            <a:off x="1910443" y="457200"/>
            <a:ext cx="9780813" cy="5943600"/>
          </a:xfrm>
        </p:spPr>
        <p:txBody>
          <a:bodyPr>
            <a:normAutofit/>
          </a:bodyPr>
          <a:lstStyle/>
          <a:p>
            <a:pPr marL="0" indent="0" algn="just">
              <a:buNone/>
            </a:pPr>
            <a:endParaRPr lang="fr-CM" sz="1800" b="1" dirty="0">
              <a:latin typeface="Times New Roman" panose="02020603050405020304" pitchFamily="18" charset="0"/>
              <a:cs typeface="Times New Roman" panose="02020603050405020304" pitchFamily="18" charset="0"/>
            </a:endParaRPr>
          </a:p>
          <a:p>
            <a:pPr marL="0" indent="0" algn="just">
              <a:buNone/>
            </a:pPr>
            <a:r>
              <a:rPr lang="fr-CM" b="1" dirty="0">
                <a:latin typeface="Times New Roman" panose="02020603050405020304" pitchFamily="18" charset="0"/>
                <a:cs typeface="Times New Roman" panose="02020603050405020304" pitchFamily="18" charset="0"/>
              </a:rPr>
              <a:t>PHASE 3 : ACTIVATION</a:t>
            </a:r>
          </a:p>
          <a:p>
            <a:pPr marL="0" indent="0" algn="just">
              <a:buNone/>
            </a:pPr>
            <a:r>
              <a:rPr lang="fr-CM" dirty="0">
                <a:latin typeface="Times New Roman" panose="02020603050405020304" pitchFamily="18" charset="0"/>
                <a:cs typeface="Times New Roman" panose="02020603050405020304" pitchFamily="18" charset="0"/>
              </a:rPr>
              <a:t>Actions de stimulation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Campagnes Meta ADSL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Challenges digitaux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Démonstrations dans les campus universitaires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Téléchargements assistés.</a:t>
            </a:r>
          </a:p>
          <a:p>
            <a:pPr marL="0" indent="0" algn="just">
              <a:buNone/>
            </a:pPr>
            <a:endParaRPr lang="fr-CM" dirty="0">
              <a:latin typeface="Times New Roman" panose="02020603050405020304" pitchFamily="18" charset="0"/>
              <a:cs typeface="Times New Roman" panose="02020603050405020304" pitchFamily="18" charset="0"/>
            </a:endParaRPr>
          </a:p>
          <a:p>
            <a:pPr marL="0" indent="0" algn="just">
              <a:buNone/>
            </a:pPr>
            <a:r>
              <a:rPr lang="fr-CM" b="1" dirty="0">
                <a:latin typeface="Times New Roman" panose="02020603050405020304" pitchFamily="18" charset="0"/>
                <a:cs typeface="Times New Roman" panose="02020603050405020304" pitchFamily="18" charset="0"/>
              </a:rPr>
              <a:t>PHASE 4 : FIDÉLISATION</a:t>
            </a:r>
            <a:endParaRPr lang="fr-CM" dirty="0">
              <a:latin typeface="Times New Roman" panose="02020603050405020304" pitchFamily="18" charset="0"/>
              <a:cs typeface="Times New Roman" panose="02020603050405020304" pitchFamily="18" charset="0"/>
            </a:endParaRPr>
          </a:p>
          <a:p>
            <a:pPr marL="0" indent="0" algn="just">
              <a:buNone/>
            </a:pPr>
            <a:r>
              <a:rPr lang="fr-CM" dirty="0">
                <a:latin typeface="Times New Roman" panose="02020603050405020304" pitchFamily="18" charset="0"/>
                <a:cs typeface="Times New Roman" panose="02020603050405020304" pitchFamily="18" charset="0"/>
              </a:rPr>
              <a:t>Mise en place de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Recommandations personnalisées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Offres partenaires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Communication communautaire continue</a:t>
            </a:r>
            <a:r>
              <a:rPr lang="fr-CM" b="1" dirty="0">
                <a:latin typeface="Times New Roman" panose="02020603050405020304" pitchFamily="18" charset="0"/>
                <a:cs typeface="Times New Roman" panose="02020603050405020304" pitchFamily="18" charset="0"/>
              </a:rPr>
              <a:t>.</a:t>
            </a:r>
            <a:endParaRPr lang="fr-CM" dirty="0">
              <a:latin typeface="Times New Roman" panose="02020603050405020304" pitchFamily="18" charset="0"/>
              <a:cs typeface="Times New Roman" panose="02020603050405020304" pitchFamily="18" charset="0"/>
            </a:endParaRPr>
          </a:p>
          <a:p>
            <a:pPr marL="0" indent="0" algn="just">
              <a:buNone/>
            </a:pPr>
            <a:br>
              <a:rPr lang="fr-CM" dirty="0">
                <a:latin typeface="Times New Roman" panose="02020603050405020304" pitchFamily="18" charset="0"/>
                <a:cs typeface="Times New Roman" panose="02020603050405020304" pitchFamily="18" charset="0"/>
              </a:rPr>
            </a:br>
            <a:endParaRPr lang="fr-CM" dirty="0">
              <a:latin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3860473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A4F92E-D0D2-BD84-3758-D3CE09DF69CD}"/>
              </a:ext>
            </a:extLst>
          </p:cNvPr>
          <p:cNvSpPr>
            <a:spLocks noGrp="1"/>
          </p:cNvSpPr>
          <p:nvPr>
            <p:ph type="title"/>
          </p:nvPr>
        </p:nvSpPr>
        <p:spPr>
          <a:xfrm>
            <a:off x="2070411" y="673095"/>
            <a:ext cx="8911687" cy="633190"/>
          </a:xfrm>
        </p:spPr>
        <p:txBody>
          <a:bodyPr>
            <a:normAutofit/>
          </a:bodyPr>
          <a:lstStyle/>
          <a:p>
            <a:pPr algn="ctr"/>
            <a:r>
              <a:rPr lang="fr-FR" sz="2800" dirty="0">
                <a:latin typeface="Times New Roman" panose="02020603050405020304" pitchFamily="18" charset="0"/>
                <a:cs typeface="Times New Roman" panose="02020603050405020304" pitchFamily="18" charset="0"/>
              </a:rPr>
              <a:t>BUDGET</a:t>
            </a:r>
          </a:p>
        </p:txBody>
      </p:sp>
      <p:sp>
        <p:nvSpPr>
          <p:cNvPr id="3" name="Espace réservé du contenu 2">
            <a:extLst>
              <a:ext uri="{FF2B5EF4-FFF2-40B4-BE49-F238E27FC236}">
                <a16:creationId xmlns:a16="http://schemas.microsoft.com/office/drawing/2014/main" id="{65105805-F731-22D9-38A8-C3B7CE24E73A}"/>
              </a:ext>
            </a:extLst>
          </p:cNvPr>
          <p:cNvSpPr>
            <a:spLocks noGrp="1"/>
          </p:cNvSpPr>
          <p:nvPr>
            <p:ph idx="1"/>
          </p:nvPr>
        </p:nvSpPr>
        <p:spPr>
          <a:xfrm>
            <a:off x="2592925" y="1306285"/>
            <a:ext cx="8915400" cy="4621265"/>
          </a:xfrm>
        </p:spPr>
        <p:txBody>
          <a:bodyPr>
            <a:normAutofit/>
          </a:bodyPr>
          <a:lstStyle/>
          <a:p>
            <a:pPr marL="0" indent="0">
              <a:buNone/>
            </a:pPr>
            <a:r>
              <a:rPr lang="fr-CM" dirty="0">
                <a:latin typeface="Times New Roman" panose="02020603050405020304" pitchFamily="18" charset="0"/>
                <a:cs typeface="Times New Roman" panose="02020603050405020304" pitchFamily="18" charset="0"/>
              </a:rPr>
              <a:t>Le budget prévisionnel est réparti comme suit :</a:t>
            </a:r>
          </a:p>
          <a:p>
            <a:pPr marL="0" indent="0">
              <a:buNone/>
            </a:pPr>
            <a:endParaRPr lang="fr-CM"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Création visuelle et contenus digitaux : 250 000 FCFA</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Campagnes publicitaires Meta ADSL : 450 000 FCFA</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Partenariats influenceurs : 300 000 FCFA</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Actions terrain et animations campus : 200 000 FCFA</a:t>
            </a:r>
          </a:p>
          <a:p>
            <a:pPr>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Community management : 150 000 FCFA</a:t>
            </a:r>
            <a:br>
              <a:rPr lang="fr-CM" dirty="0">
                <a:latin typeface="Times New Roman" panose="02020603050405020304" pitchFamily="18" charset="0"/>
                <a:cs typeface="Times New Roman" panose="02020603050405020304" pitchFamily="18" charset="0"/>
              </a:rPr>
            </a:br>
            <a:endParaRPr lang="fr-CM" dirty="0">
              <a:latin typeface="Times New Roman" panose="02020603050405020304" pitchFamily="18" charset="0"/>
              <a:cs typeface="Times New Roman" panose="02020603050405020304" pitchFamily="18" charset="0"/>
            </a:endParaRPr>
          </a:p>
          <a:p>
            <a:pPr marL="0" indent="0" algn="ctr">
              <a:buNone/>
            </a:pPr>
            <a:r>
              <a:rPr lang="fr-CM" b="1" dirty="0">
                <a:latin typeface="Times New Roman" panose="02020603050405020304" pitchFamily="18" charset="0"/>
                <a:cs typeface="Times New Roman" panose="02020603050405020304" pitchFamily="18" charset="0"/>
              </a:rPr>
              <a:t>TOTAL : 1 350 000 FCFA</a:t>
            </a:r>
          </a:p>
          <a:p>
            <a:pPr marL="0" indent="0">
              <a:buNone/>
            </a:pPr>
            <a:r>
              <a:rPr lang="fr-CM" dirty="0">
                <a:latin typeface="Times New Roman" panose="02020603050405020304" pitchFamily="18" charset="0"/>
                <a:cs typeface="Times New Roman" panose="02020603050405020304" pitchFamily="18" charset="0"/>
              </a:rPr>
              <a:t>Cette répartition garantit une utilisation stratégique et réaliste des ressources.</a:t>
            </a:r>
          </a:p>
          <a:p>
            <a:endParaRPr lang="fr-FR" dirty="0"/>
          </a:p>
        </p:txBody>
      </p:sp>
    </p:spTree>
    <p:extLst>
      <p:ext uri="{BB962C8B-B14F-4D97-AF65-F5344CB8AC3E}">
        <p14:creationId xmlns:p14="http://schemas.microsoft.com/office/powerpoint/2010/main" val="2454392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77870D-C21B-AA47-7B9E-645FA130ACF6}"/>
              </a:ext>
            </a:extLst>
          </p:cNvPr>
          <p:cNvSpPr>
            <a:spLocks noGrp="1"/>
          </p:cNvSpPr>
          <p:nvPr>
            <p:ph type="title"/>
          </p:nvPr>
        </p:nvSpPr>
        <p:spPr>
          <a:xfrm>
            <a:off x="2135725" y="803445"/>
            <a:ext cx="8911687" cy="616861"/>
          </a:xfrm>
        </p:spPr>
        <p:txBody>
          <a:bodyPr>
            <a:normAutofit/>
          </a:bodyPr>
          <a:lstStyle/>
          <a:p>
            <a:pPr algn="ctr"/>
            <a:r>
              <a:rPr lang="fr-FR" sz="2800" dirty="0">
                <a:latin typeface="Times New Roman" panose="02020603050405020304" pitchFamily="18" charset="0"/>
                <a:cs typeface="Times New Roman" panose="02020603050405020304" pitchFamily="18" charset="0"/>
              </a:rPr>
              <a:t>CHRONOGRAMME </a:t>
            </a:r>
          </a:p>
        </p:txBody>
      </p:sp>
      <p:sp>
        <p:nvSpPr>
          <p:cNvPr id="3" name="Espace réservé du contenu 2">
            <a:extLst>
              <a:ext uri="{FF2B5EF4-FFF2-40B4-BE49-F238E27FC236}">
                <a16:creationId xmlns:a16="http://schemas.microsoft.com/office/drawing/2014/main" id="{0EC0D22D-6F61-9927-D989-36B3853A5324}"/>
              </a:ext>
            </a:extLst>
          </p:cNvPr>
          <p:cNvSpPr>
            <a:spLocks noGrp="1"/>
          </p:cNvSpPr>
          <p:nvPr>
            <p:ph idx="1"/>
          </p:nvPr>
        </p:nvSpPr>
        <p:spPr>
          <a:xfrm>
            <a:off x="2278969" y="1676401"/>
            <a:ext cx="8915400" cy="3777622"/>
          </a:xfrm>
        </p:spPr>
        <p:txBody>
          <a:bodyPr/>
          <a:lstStyle/>
          <a:p>
            <a:pPr marL="0" indent="0" algn="just">
              <a:buNone/>
            </a:pPr>
            <a:r>
              <a:rPr lang="fr-FR" dirty="0">
                <a:latin typeface="Times New Roman" panose="02020603050405020304" pitchFamily="18" charset="0"/>
                <a:cs typeface="Times New Roman" panose="02020603050405020304" pitchFamily="18" charset="0"/>
              </a:rPr>
              <a:t>La campagne s’entendra sur trois mois. </a:t>
            </a:r>
          </a:p>
          <a:p>
            <a:pPr algn="just"/>
            <a:r>
              <a:rPr lang="fr-FR" dirty="0">
                <a:latin typeface="Times New Roman" panose="02020603050405020304" pitchFamily="18" charset="0"/>
                <a:cs typeface="Times New Roman" panose="02020603050405020304" pitchFamily="18" charset="0"/>
              </a:rPr>
              <a:t>Le premier mois sera consacré au lancement et à la notoriété.</a:t>
            </a:r>
          </a:p>
          <a:p>
            <a:pPr algn="just"/>
            <a:r>
              <a:rPr lang="fr-FR" dirty="0">
                <a:latin typeface="Times New Roman" panose="02020603050405020304" pitchFamily="18" charset="0"/>
                <a:cs typeface="Times New Roman" panose="02020603050405020304" pitchFamily="18" charset="0"/>
              </a:rPr>
              <a:t>Le deuxième à l’engagement et à l’interaction avec les utilisateurs.</a:t>
            </a:r>
          </a:p>
          <a:p>
            <a:pPr algn="just"/>
            <a:r>
              <a:rPr lang="fr-FR" dirty="0">
                <a:latin typeface="Times New Roman" panose="02020603050405020304" pitchFamily="18" charset="0"/>
                <a:cs typeface="Times New Roman" panose="02020603050405020304" pitchFamily="18" charset="0"/>
              </a:rPr>
              <a:t>Le troisième à la fidélisation et à l’augmentation des téléchargements .</a:t>
            </a:r>
          </a:p>
        </p:txBody>
      </p:sp>
    </p:spTree>
    <p:extLst>
      <p:ext uri="{BB962C8B-B14F-4D97-AF65-F5344CB8AC3E}">
        <p14:creationId xmlns:p14="http://schemas.microsoft.com/office/powerpoint/2010/main" val="2297042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8F79-2D94-49EA-D71A-E8AB02BCEF1F}"/>
              </a:ext>
            </a:extLst>
          </p:cNvPr>
          <p:cNvSpPr>
            <a:spLocks noGrp="1"/>
          </p:cNvSpPr>
          <p:nvPr>
            <p:ph type="title"/>
          </p:nvPr>
        </p:nvSpPr>
        <p:spPr>
          <a:xfrm>
            <a:off x="2462296" y="558796"/>
            <a:ext cx="8911687" cy="747490"/>
          </a:xfrm>
        </p:spPr>
        <p:txBody>
          <a:bodyPr>
            <a:normAutofit/>
          </a:bodyPr>
          <a:lstStyle/>
          <a:p>
            <a:pPr algn="ctr"/>
            <a:r>
              <a:rPr lang="fr-FR" sz="2800" dirty="0">
                <a:latin typeface="Times New Roman" panose="02020603050405020304" pitchFamily="18" charset="0"/>
                <a:cs typeface="Times New Roman" panose="02020603050405020304" pitchFamily="18" charset="0"/>
              </a:rPr>
              <a:t>SUIVI ET ÉVALUATION</a:t>
            </a:r>
          </a:p>
        </p:txBody>
      </p:sp>
      <p:sp>
        <p:nvSpPr>
          <p:cNvPr id="3" name="Espace réservé du contenu 2">
            <a:extLst>
              <a:ext uri="{FF2B5EF4-FFF2-40B4-BE49-F238E27FC236}">
                <a16:creationId xmlns:a16="http://schemas.microsoft.com/office/drawing/2014/main" id="{A43461AE-F675-43FD-7419-C2F03F0B9A67}"/>
              </a:ext>
            </a:extLst>
          </p:cNvPr>
          <p:cNvSpPr>
            <a:spLocks noGrp="1"/>
          </p:cNvSpPr>
          <p:nvPr>
            <p:ph idx="1"/>
          </p:nvPr>
        </p:nvSpPr>
        <p:spPr>
          <a:xfrm>
            <a:off x="2585499" y="1540189"/>
            <a:ext cx="8915400" cy="3777622"/>
          </a:xfrm>
        </p:spPr>
        <p:txBody>
          <a:bodyPr>
            <a:normAutofit/>
          </a:bodyPr>
          <a:lstStyle/>
          <a:p>
            <a:pPr marL="0" indent="0" algn="just">
              <a:buNone/>
            </a:pPr>
            <a:r>
              <a:rPr lang="fr-CM" dirty="0">
                <a:latin typeface="Times New Roman" panose="02020603050405020304" pitchFamily="18" charset="0"/>
                <a:cs typeface="Times New Roman" panose="02020603050405020304" pitchFamily="18" charset="0"/>
              </a:rPr>
              <a:t>L’évaluation reposera sur plusieurs indicateurs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Nombre de téléchargements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Taux d’engagement digital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Nombre de prestataires intégrés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Volume de réservations ;</a:t>
            </a:r>
          </a:p>
          <a:p>
            <a:pPr algn="just">
              <a:buFont typeface="Arial" panose="020B0604020202020204" pitchFamily="34" charset="0"/>
              <a:buChar char="•"/>
            </a:pPr>
            <a:r>
              <a:rPr lang="fr-CM" dirty="0">
                <a:latin typeface="Times New Roman" panose="02020603050405020304" pitchFamily="18" charset="0"/>
                <a:cs typeface="Times New Roman" panose="02020603050405020304" pitchFamily="18" charset="0"/>
              </a:rPr>
              <a:t>Retours utilisateurs.</a:t>
            </a:r>
          </a:p>
          <a:p>
            <a:pPr marL="0" indent="0" algn="just">
              <a:buNone/>
            </a:pPr>
            <a:r>
              <a:rPr lang="fr-CM" dirty="0">
                <a:latin typeface="Times New Roman" panose="02020603050405020304" pitchFamily="18" charset="0"/>
                <a:cs typeface="Times New Roman" panose="02020603050405020304" pitchFamily="18" charset="0"/>
              </a:rPr>
              <a:t>Des ajustements stratégiques seront réalisés en fonction des performances observées.</a:t>
            </a:r>
          </a:p>
          <a:p>
            <a:endParaRPr lang="fr-FR" dirty="0"/>
          </a:p>
        </p:txBody>
      </p:sp>
    </p:spTree>
    <p:extLst>
      <p:ext uri="{BB962C8B-B14F-4D97-AF65-F5344CB8AC3E}">
        <p14:creationId xmlns:p14="http://schemas.microsoft.com/office/powerpoint/2010/main" val="1667349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ECACFD-1A7C-47ED-2444-3DC04009178F}"/>
              </a:ext>
            </a:extLst>
          </p:cNvPr>
          <p:cNvSpPr>
            <a:spLocks noGrp="1"/>
          </p:cNvSpPr>
          <p:nvPr>
            <p:ph type="title"/>
          </p:nvPr>
        </p:nvSpPr>
        <p:spPr>
          <a:xfrm>
            <a:off x="2592925" y="624111"/>
            <a:ext cx="8911687" cy="698504"/>
          </a:xfrm>
        </p:spPr>
        <p:txBody>
          <a:bodyPr>
            <a:normAutofit/>
          </a:bodyPr>
          <a:lstStyle/>
          <a:p>
            <a:pPr algn="ctr"/>
            <a:r>
              <a:rPr lang="fr-FR" sz="2800" dirty="0">
                <a:latin typeface="Times New Roman" panose="02020603050405020304" pitchFamily="18" charset="0"/>
                <a:cs typeface="Times New Roman" panose="02020603050405020304" pitchFamily="18" charset="0"/>
              </a:rPr>
              <a:t>CONCLUSION</a:t>
            </a:r>
          </a:p>
        </p:txBody>
      </p:sp>
      <p:sp>
        <p:nvSpPr>
          <p:cNvPr id="3" name="Espace réservé du contenu 2">
            <a:extLst>
              <a:ext uri="{FF2B5EF4-FFF2-40B4-BE49-F238E27FC236}">
                <a16:creationId xmlns:a16="http://schemas.microsoft.com/office/drawing/2014/main" id="{EB136A72-F6EB-8809-610D-4DE2EBE12EA5}"/>
              </a:ext>
            </a:extLst>
          </p:cNvPr>
          <p:cNvSpPr>
            <a:spLocks noGrp="1"/>
          </p:cNvSpPr>
          <p:nvPr>
            <p:ph idx="1"/>
          </p:nvPr>
        </p:nvSpPr>
        <p:spPr>
          <a:xfrm>
            <a:off x="3091882" y="1556518"/>
            <a:ext cx="7913772" cy="2362340"/>
          </a:xfrm>
        </p:spPr>
        <p:txBody>
          <a:bodyPr/>
          <a:lstStyle/>
          <a:p>
            <a:pPr marL="0" indent="0" algn="just">
              <a:buNone/>
            </a:pPr>
            <a:r>
              <a:rPr lang="fr-CM" dirty="0">
                <a:latin typeface="Times New Roman" panose="02020603050405020304" pitchFamily="18" charset="0"/>
                <a:cs typeface="Times New Roman" panose="02020603050405020304" pitchFamily="18" charset="0"/>
              </a:rPr>
              <a:t>237Vibes ambitionne de transformer durablement la manière dont les Camerounais découvrent, réservent et vivent leurs activités locales. À travers une campagne de communication ciblée, immersive et adaptée aux usages numériques actuels, l’application pourra s’imposer comme un acteur majeur de l’écosystème digital local.</a:t>
            </a:r>
          </a:p>
          <a:p>
            <a:pPr marL="0" indent="0" algn="just">
              <a:buNone/>
            </a:pPr>
            <a:r>
              <a:rPr lang="fr-CM" dirty="0">
                <a:latin typeface="Times New Roman" panose="02020603050405020304" pitchFamily="18" charset="0"/>
                <a:cs typeface="Times New Roman" panose="02020603050405020304" pitchFamily="18" charset="0"/>
              </a:rPr>
              <a:t>237VIBES ne se limite pas à une application : elle représente une nouvelle façon de vivre sa ville.</a:t>
            </a:r>
          </a:p>
          <a:p>
            <a:pPr marL="0" indent="0">
              <a:buNone/>
            </a:pPr>
            <a:endParaRPr lang="fr-FR" dirty="0"/>
          </a:p>
        </p:txBody>
      </p:sp>
    </p:spTree>
    <p:extLst>
      <p:ext uri="{BB962C8B-B14F-4D97-AF65-F5344CB8AC3E}">
        <p14:creationId xmlns:p14="http://schemas.microsoft.com/office/powerpoint/2010/main" val="2406913351"/>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{8DF5E6F4-060E-B64F-B199-4F74EC0AB91D}tf10001076</Template>
  <TotalTime>743</TotalTime>
  <Words>1294</Words>
  <Application>Microsoft Macintosh PowerPoint</Application>
  <PresentationFormat>Grand écran</PresentationFormat>
  <Paragraphs>146</Paragraphs>
  <Slides>16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Arial</vt:lpstr>
      <vt:lpstr>Calibri</vt:lpstr>
      <vt:lpstr>Century Gothic</vt:lpstr>
      <vt:lpstr>Helvetica Neue</vt:lpstr>
      <vt:lpstr>Times New Roman</vt:lpstr>
      <vt:lpstr>Wingdings</vt:lpstr>
      <vt:lpstr>Wingdings 3</vt:lpstr>
      <vt:lpstr>Brin</vt:lpstr>
      <vt:lpstr>CAMPAGNE DE COMMUNICATION  237 VIBES</vt:lpstr>
      <vt:lpstr>INTRODUCTION</vt:lpstr>
      <vt:lpstr>CONTEXTE ET JUSTIFICATION</vt:lpstr>
      <vt:lpstr>ANALYSE DE SITUATION(DIAGNOSTIC) </vt:lpstr>
      <vt:lpstr>Présentation PowerPoint</vt:lpstr>
      <vt:lpstr>PROBLÉMATIQUES DE COMMUNICATION</vt:lpstr>
      <vt:lpstr>OBJECTIFS DE COMMUNICATION </vt:lpstr>
      <vt:lpstr>PUBLICS CIBLES</vt:lpstr>
      <vt:lpstr>Présentation PowerPoint</vt:lpstr>
      <vt:lpstr>STRATÉGIE ET MESSAGES </vt:lpstr>
      <vt:lpstr>PLAN D’ACTIONS (STRATÉGIE OPÉRATIONNELLE)</vt:lpstr>
      <vt:lpstr>Présentation PowerPoint</vt:lpstr>
      <vt:lpstr>BUDGET</vt:lpstr>
      <vt:lpstr>CHRONOGRAMME </vt:lpstr>
      <vt:lpstr>SUIVI ET ÉVALUATION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CAMPAGNE DE COMMUNICATION  237 vibes</dc:title>
  <dc:creator>Taoufik SAID ALIOU</dc:creator>
  <cp:lastModifiedBy>Taoufik SAID ALIOU</cp:lastModifiedBy>
  <cp:revision>4</cp:revision>
  <dcterms:created xsi:type="dcterms:W3CDTF">2026-04-28T12:14:07Z</dcterms:created>
  <dcterms:modified xsi:type="dcterms:W3CDTF">2026-04-30T01:04:34Z</dcterms:modified>
</cp:coreProperties>
</file>